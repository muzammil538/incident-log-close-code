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e9ce93c268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e9ce93c26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61980" y="457200"/>
            <a:ext cx="10667733" cy="2076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34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68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AUTOMATED INCIDENT ROOT-CAUSE</a:t>
            </a:r>
            <a:br>
              <a:rPr b="0" i="0" lang="en-US" sz="11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468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VIA CLOSE-CODE CLASSIFICATION 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3238419" y="3019424"/>
            <a:ext cx="5714857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653845" y="3650900"/>
            <a:ext cx="4608000" cy="21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rtl="0" algn="ctr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35">
                <a:latin typeface="Times New Roman"/>
                <a:ea typeface="Times New Roman"/>
                <a:cs typeface="Times New Roman"/>
                <a:sym typeface="Times New Roman"/>
              </a:rPr>
              <a:t>Mogili Akhilesh – 202317B3180</a:t>
            </a:r>
            <a:endParaRPr sz="143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35">
                <a:latin typeface="Times New Roman"/>
                <a:ea typeface="Times New Roman"/>
                <a:cs typeface="Times New Roman"/>
                <a:sym typeface="Times New Roman"/>
              </a:rPr>
              <a:t>GADDAM VENKATA KRISHNA –202317B3143</a:t>
            </a:r>
            <a:endParaRPr sz="143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35">
                <a:latin typeface="Times New Roman"/>
                <a:ea typeface="Times New Roman"/>
                <a:cs typeface="Times New Roman"/>
                <a:sym typeface="Times New Roman"/>
              </a:rPr>
              <a:t>THARUN A -202317b3045</a:t>
            </a:r>
            <a:endParaRPr sz="143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35">
                <a:latin typeface="Times New Roman"/>
                <a:ea typeface="Times New Roman"/>
                <a:cs typeface="Times New Roman"/>
                <a:sym typeface="Times New Roman"/>
              </a:rPr>
              <a:t>THADKE LAXMIKANT- DATTATRAY – 202317b3028</a:t>
            </a:r>
            <a:endParaRPr sz="143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35">
                <a:latin typeface="Times New Roman"/>
                <a:ea typeface="Times New Roman"/>
                <a:cs typeface="Times New Roman"/>
                <a:sym typeface="Times New Roman"/>
              </a:rPr>
              <a:t>TANMAY SHINDE –202317B3053</a:t>
            </a:r>
            <a:endParaRPr sz="143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572007" y="6019799"/>
            <a:ext cx="27717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BITS Pilani WILP</a:t>
            </a:r>
            <a:r>
              <a:rPr b="0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761980" y="66674"/>
            <a:ext cx="10667733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761980" y="714375"/>
            <a:ext cx="10667733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761967" y="1052513"/>
            <a:ext cx="5029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Incident Management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62042" y="1402625"/>
            <a:ext cx="50292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of restoring normal service operation as quickly as possible, minimizing adverse impact on business operations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62042" y="2178188"/>
            <a:ext cx="5029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 Codes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62042" y="2663963"/>
            <a:ext cx="50292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Standardized categories indicating the root cause or resolution type of an incident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42" y="3462950"/>
            <a:ext cx="5029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Root-Cause Analysis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42" y="3958250"/>
            <a:ext cx="50292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Systematic method to identify underlying causes of problems, enabling preventive measures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2042" y="4766749"/>
            <a:ext cx="5029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for Automation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2042" y="5252524"/>
            <a:ext cx="50292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Enterprise IT systems generate high incident volumes requiring efficient, consistent, and scalable analysis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400627" y="1004887"/>
            <a:ext cx="50292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Incident Lifecycle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7543536" y="1428750"/>
            <a:ext cx="2743200" cy="42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7543636" y="1519925"/>
            <a:ext cx="27432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Incident Detection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848503" y="1948275"/>
            <a:ext cx="1332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543536" y="2331362"/>
            <a:ext cx="2743200" cy="42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543511" y="2407524"/>
            <a:ext cx="27432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Logging &amp; Categorization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848503" y="2896363"/>
            <a:ext cx="1332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7543511" y="3353824"/>
            <a:ext cx="2743200" cy="42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7543511" y="3430024"/>
            <a:ext cx="27432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&amp; Diagnosis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848503" y="3865975"/>
            <a:ext cx="1332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/>
          </a:p>
        </p:txBody>
      </p:sp>
      <p:grpSp>
        <p:nvGrpSpPr>
          <p:cNvPr id="112" name="Google Shape;112;p14"/>
          <p:cNvGrpSpPr/>
          <p:nvPr/>
        </p:nvGrpSpPr>
        <p:grpSpPr>
          <a:xfrm>
            <a:off x="7543536" y="4317825"/>
            <a:ext cx="2743131" cy="428625"/>
            <a:chOff x="7543611" y="5372100"/>
            <a:chExt cx="2743131" cy="428625"/>
          </a:xfrm>
        </p:grpSpPr>
        <p:sp>
          <p:nvSpPr>
            <p:cNvPr id="113" name="Google Shape;113;p14"/>
            <p:cNvSpPr/>
            <p:nvPr/>
          </p:nvSpPr>
          <p:spPr>
            <a:xfrm>
              <a:off x="7543611" y="5372100"/>
              <a:ext cx="2743131" cy="42862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4"/>
            <p:cNvSpPr txBox="1"/>
            <p:nvPr/>
          </p:nvSpPr>
          <p:spPr>
            <a:xfrm>
              <a:off x="7619851" y="5416525"/>
              <a:ext cx="2590500" cy="2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ctr">
                <a:lnSpc>
                  <a:spcPct val="1631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76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Resolution &amp; Recovery</a:t>
              </a:r>
              <a:endParaRPr/>
            </a:p>
          </p:txBody>
        </p:sp>
      </p:grpSp>
      <p:sp>
        <p:nvSpPr>
          <p:cNvPr id="115" name="Google Shape;115;p14"/>
          <p:cNvSpPr txBox="1"/>
          <p:nvPr/>
        </p:nvSpPr>
        <p:spPr>
          <a:xfrm>
            <a:off x="8848503" y="4905849"/>
            <a:ext cx="1332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/>
          </a:p>
        </p:txBody>
      </p:sp>
      <p:grpSp>
        <p:nvGrpSpPr>
          <p:cNvPr id="116" name="Google Shape;116;p14"/>
          <p:cNvGrpSpPr/>
          <p:nvPr/>
        </p:nvGrpSpPr>
        <p:grpSpPr>
          <a:xfrm>
            <a:off x="7543525" y="5281750"/>
            <a:ext cx="2743142" cy="428625"/>
            <a:chOff x="7543600" y="6505575"/>
            <a:chExt cx="2743142" cy="428625"/>
          </a:xfrm>
        </p:grpSpPr>
        <p:sp>
          <p:nvSpPr>
            <p:cNvPr id="117" name="Google Shape;117;p14"/>
            <p:cNvSpPr/>
            <p:nvPr/>
          </p:nvSpPr>
          <p:spPr>
            <a:xfrm>
              <a:off x="7543611" y="6505575"/>
              <a:ext cx="2743131" cy="42862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4"/>
            <p:cNvSpPr txBox="1"/>
            <p:nvPr/>
          </p:nvSpPr>
          <p:spPr>
            <a:xfrm>
              <a:off x="7543600" y="6505575"/>
              <a:ext cx="2679300" cy="2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ctr">
                <a:lnSpc>
                  <a:spcPct val="1631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76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Close-Code Assignment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/>
        </p:nvSpPr>
        <p:spPr>
          <a:xfrm>
            <a:off x="761980" y="66674"/>
            <a:ext cx="10667733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&amp; OBJECTIVES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761980" y="714375"/>
            <a:ext cx="10667733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761980" y="1295399"/>
            <a:ext cx="45528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/>
          </a:p>
        </p:txBody>
      </p:sp>
      <p:grpSp>
        <p:nvGrpSpPr>
          <p:cNvPr id="126" name="Google Shape;126;p15"/>
          <p:cNvGrpSpPr/>
          <p:nvPr/>
        </p:nvGrpSpPr>
        <p:grpSpPr>
          <a:xfrm>
            <a:off x="761980" y="2034075"/>
            <a:ext cx="4552800" cy="2093925"/>
            <a:chOff x="761980" y="3200400"/>
            <a:chExt cx="4552800" cy="2093925"/>
          </a:xfrm>
        </p:grpSpPr>
        <p:sp>
          <p:nvSpPr>
            <p:cNvPr id="127" name="Google Shape;127;p15"/>
            <p:cNvSpPr txBox="1"/>
            <p:nvPr/>
          </p:nvSpPr>
          <p:spPr>
            <a:xfrm>
              <a:off x="761980" y="3200400"/>
              <a:ext cx="4552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l">
                <a:lnSpc>
                  <a:spcPct val="1766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35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Manual close-code assignment is:</a:t>
              </a: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761980" y="4124324"/>
              <a:ext cx="76198" cy="762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5"/>
            <p:cNvSpPr txBox="1"/>
            <p:nvPr/>
          </p:nvSpPr>
          <p:spPr>
            <a:xfrm>
              <a:off x="990575" y="4029075"/>
              <a:ext cx="15525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l">
                <a:lnSpc>
                  <a:spcPct val="1630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35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Time-consuming</a:t>
              </a:r>
              <a:endParaRPr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761980" y="4638674"/>
              <a:ext cx="76198" cy="762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15"/>
            <p:cNvSpPr txBox="1"/>
            <p:nvPr/>
          </p:nvSpPr>
          <p:spPr>
            <a:xfrm>
              <a:off x="990575" y="4543425"/>
              <a:ext cx="11049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l">
                <a:lnSpc>
                  <a:spcPct val="1630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35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Inconsistent</a:t>
              </a: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761980" y="5057775"/>
              <a:ext cx="76198" cy="762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5"/>
            <p:cNvSpPr txBox="1"/>
            <p:nvPr/>
          </p:nvSpPr>
          <p:spPr>
            <a:xfrm>
              <a:off x="990575" y="4962525"/>
              <a:ext cx="24765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l">
                <a:lnSpc>
                  <a:spcPct val="1630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35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Difficult at enterprise scale</a:t>
              </a:r>
              <a:endParaRPr/>
            </a:p>
          </p:txBody>
        </p:sp>
      </p:grpSp>
      <p:sp>
        <p:nvSpPr>
          <p:cNvPr id="134" name="Google Shape;134;p15"/>
          <p:cNvSpPr txBox="1"/>
          <p:nvPr/>
        </p:nvSpPr>
        <p:spPr>
          <a:xfrm>
            <a:off x="6857828" y="1181099"/>
            <a:ext cx="45720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/>
          </a:p>
        </p:txBody>
      </p:sp>
      <p:grpSp>
        <p:nvGrpSpPr>
          <p:cNvPr id="135" name="Google Shape;135;p15"/>
          <p:cNvGrpSpPr/>
          <p:nvPr/>
        </p:nvGrpSpPr>
        <p:grpSpPr>
          <a:xfrm>
            <a:off x="6857828" y="2034075"/>
            <a:ext cx="3524094" cy="2332050"/>
            <a:chOff x="6857828" y="3086100"/>
            <a:chExt cx="3524094" cy="2332050"/>
          </a:xfrm>
        </p:grpSpPr>
        <p:sp>
          <p:nvSpPr>
            <p:cNvPr id="136" name="Google Shape;136;p15"/>
            <p:cNvSpPr/>
            <p:nvPr/>
          </p:nvSpPr>
          <p:spPr>
            <a:xfrm>
              <a:off x="6857828" y="3181350"/>
              <a:ext cx="76198" cy="762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6857828" y="3695699"/>
              <a:ext cx="76198" cy="762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6857828" y="4190999"/>
              <a:ext cx="76198" cy="762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6857828" y="4686300"/>
              <a:ext cx="76198" cy="762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6857828" y="5181599"/>
              <a:ext cx="76198" cy="762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5"/>
            <p:cNvSpPr txBox="1"/>
            <p:nvPr/>
          </p:nvSpPr>
          <p:spPr>
            <a:xfrm>
              <a:off x="7086422" y="3086100"/>
              <a:ext cx="2905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l">
                <a:lnSpc>
                  <a:spcPct val="1630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35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Analyze historical incident logs</a:t>
              </a:r>
              <a:endParaRPr/>
            </a:p>
          </p:txBody>
        </p:sp>
        <p:sp>
          <p:nvSpPr>
            <p:cNvPr id="142" name="Google Shape;142;p15"/>
            <p:cNvSpPr txBox="1"/>
            <p:nvPr/>
          </p:nvSpPr>
          <p:spPr>
            <a:xfrm>
              <a:off x="7086422" y="3600450"/>
              <a:ext cx="32955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l">
                <a:lnSpc>
                  <a:spcPct val="1630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35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Apply NLP on incident descriptions</a:t>
              </a:r>
              <a:endParaRPr/>
            </a:p>
          </p:txBody>
        </p:sp>
        <p:sp>
          <p:nvSpPr>
            <p:cNvPr id="143" name="Google Shape;143;p15"/>
            <p:cNvSpPr txBox="1"/>
            <p:nvPr/>
          </p:nvSpPr>
          <p:spPr>
            <a:xfrm>
              <a:off x="7086422" y="4095749"/>
              <a:ext cx="1600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l">
                <a:lnSpc>
                  <a:spcPct val="1630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35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Train ML models</a:t>
              </a:r>
              <a:endParaRPr/>
            </a:p>
          </p:txBody>
        </p:sp>
        <p:sp>
          <p:nvSpPr>
            <p:cNvPr id="144" name="Google Shape;144;p15"/>
            <p:cNvSpPr txBox="1"/>
            <p:nvPr/>
          </p:nvSpPr>
          <p:spPr>
            <a:xfrm>
              <a:off x="7086422" y="4591050"/>
              <a:ext cx="26097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l">
                <a:lnSpc>
                  <a:spcPct val="1630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35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Predict probable close codes</a:t>
              </a:r>
              <a:endParaRPr/>
            </a:p>
          </p:txBody>
        </p:sp>
        <p:sp>
          <p:nvSpPr>
            <p:cNvPr id="145" name="Google Shape;145;p15"/>
            <p:cNvSpPr txBox="1"/>
            <p:nvPr/>
          </p:nvSpPr>
          <p:spPr>
            <a:xfrm>
              <a:off x="7086422" y="5086350"/>
              <a:ext cx="27909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l">
                <a:lnSpc>
                  <a:spcPct val="1630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35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Build recommendation system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/>
        </p:nvSpPr>
        <p:spPr>
          <a:xfrm>
            <a:off x="761980" y="66674"/>
            <a:ext cx="10667733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USED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761980" y="714375"/>
            <a:ext cx="10667733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609584" y="971550"/>
            <a:ext cx="4876678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Incident Management Process Enriched Event Log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09584" y="2000250"/>
            <a:ext cx="487667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UCI Machine Learning Repository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609584" y="2590799"/>
            <a:ext cx="2362140" cy="11620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809604" y="2752725"/>
            <a:ext cx="1962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Records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809604" y="3076574"/>
            <a:ext cx="19620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2">
                <a:latin typeface="Times New Roman"/>
                <a:ea typeface="Times New Roman"/>
                <a:cs typeface="Times New Roman"/>
                <a:sym typeface="Times New Roman"/>
              </a:rPr>
              <a:t>24,918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3124121" y="2590799"/>
            <a:ext cx="2362140" cy="11620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3324141" y="2752725"/>
            <a:ext cx="1962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3324141" y="3076574"/>
            <a:ext cx="1962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5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609584" y="4057650"/>
            <a:ext cx="487667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Log Structure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609584" y="4514850"/>
            <a:ext cx="4876678" cy="933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3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Incident ID, Timestamp, Priority, Impact, Urgency, Assignment Group, Reassignment Count, Reopen Count, Incident Duration, Description, Close Code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609584" y="5667374"/>
            <a:ext cx="487667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 Code Categories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609584" y="6124574"/>
            <a:ext cx="4876678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Hardware, Software, Network, User Error, Configuration, Database, Security, Authentication</a:t>
            </a:r>
            <a:endParaRPr/>
          </a:p>
        </p:txBody>
      </p:sp>
      <p:grpSp>
        <p:nvGrpSpPr>
          <p:cNvPr id="164" name="Google Shape;164;p16"/>
          <p:cNvGrpSpPr/>
          <p:nvPr/>
        </p:nvGrpSpPr>
        <p:grpSpPr>
          <a:xfrm>
            <a:off x="6552932" y="1260774"/>
            <a:ext cx="4876800" cy="2956426"/>
            <a:chOff x="6705432" y="3933824"/>
            <a:chExt cx="4876800" cy="2956426"/>
          </a:xfrm>
        </p:grpSpPr>
        <p:sp>
          <p:nvSpPr>
            <p:cNvPr id="165" name="Google Shape;165;p16"/>
            <p:cNvSpPr txBox="1"/>
            <p:nvPr/>
          </p:nvSpPr>
          <p:spPr>
            <a:xfrm>
              <a:off x="6705432" y="3933824"/>
              <a:ext cx="4876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l">
                <a:lnSpc>
                  <a:spcPct val="1630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35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Class Distribution</a:t>
              </a:r>
              <a:endParaRPr/>
            </a:p>
          </p:txBody>
        </p:sp>
        <p:sp>
          <p:nvSpPr>
            <p:cNvPr id="166" name="Google Shape;166;p16"/>
            <p:cNvSpPr txBox="1"/>
            <p:nvPr/>
          </p:nvSpPr>
          <p:spPr>
            <a:xfrm>
              <a:off x="6705432" y="4514850"/>
              <a:ext cx="1057200" cy="2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l">
                <a:lnSpc>
                  <a:spcPct val="1631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76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Software</a:t>
              </a:r>
              <a:endParaRPr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7762680" y="4505325"/>
              <a:ext cx="3390815" cy="26669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6"/>
            <p:cNvSpPr txBox="1"/>
            <p:nvPr/>
          </p:nvSpPr>
          <p:spPr>
            <a:xfrm>
              <a:off x="11267793" y="4514850"/>
              <a:ext cx="314400" cy="54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l">
                <a:lnSpc>
                  <a:spcPct val="1631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76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35%</a:t>
              </a:r>
              <a:endParaRPr/>
            </a:p>
          </p:txBody>
        </p:sp>
        <p:sp>
          <p:nvSpPr>
            <p:cNvPr id="169" name="Google Shape;169;p16"/>
            <p:cNvSpPr txBox="1"/>
            <p:nvPr/>
          </p:nvSpPr>
          <p:spPr>
            <a:xfrm>
              <a:off x="6705432" y="4972050"/>
              <a:ext cx="1066800" cy="2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l">
                <a:lnSpc>
                  <a:spcPct val="1631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76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Hardware</a:t>
              </a:r>
              <a:endParaRPr/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7772205" y="4962525"/>
              <a:ext cx="3381290" cy="26669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6"/>
            <p:cNvSpPr txBox="1"/>
            <p:nvPr/>
          </p:nvSpPr>
          <p:spPr>
            <a:xfrm>
              <a:off x="11267793" y="4972050"/>
              <a:ext cx="314400" cy="54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l">
                <a:lnSpc>
                  <a:spcPct val="1631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76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25%</a:t>
              </a:r>
              <a:endParaRPr/>
            </a:p>
          </p:txBody>
        </p:sp>
        <p:sp>
          <p:nvSpPr>
            <p:cNvPr id="172" name="Google Shape;172;p16"/>
            <p:cNvSpPr txBox="1"/>
            <p:nvPr/>
          </p:nvSpPr>
          <p:spPr>
            <a:xfrm>
              <a:off x="6705432" y="5429250"/>
              <a:ext cx="1066800" cy="2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l">
                <a:lnSpc>
                  <a:spcPct val="1631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76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Network</a:t>
              </a:r>
              <a:endParaRPr/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7772205" y="5419725"/>
              <a:ext cx="3381290" cy="26669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6"/>
            <p:cNvSpPr txBox="1"/>
            <p:nvPr/>
          </p:nvSpPr>
          <p:spPr>
            <a:xfrm>
              <a:off x="11267793" y="5429250"/>
              <a:ext cx="314400" cy="54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l">
                <a:lnSpc>
                  <a:spcPct val="1631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76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15%</a:t>
              </a:r>
              <a:endParaRPr/>
            </a:p>
          </p:txBody>
        </p:sp>
        <p:sp>
          <p:nvSpPr>
            <p:cNvPr id="175" name="Google Shape;175;p16"/>
            <p:cNvSpPr txBox="1"/>
            <p:nvPr/>
          </p:nvSpPr>
          <p:spPr>
            <a:xfrm>
              <a:off x="6705432" y="5886450"/>
              <a:ext cx="1066800" cy="2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l">
                <a:lnSpc>
                  <a:spcPct val="1631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76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User Error</a:t>
              </a:r>
              <a:endParaRPr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7772205" y="5876925"/>
              <a:ext cx="3381290" cy="26669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6"/>
            <p:cNvSpPr txBox="1"/>
            <p:nvPr/>
          </p:nvSpPr>
          <p:spPr>
            <a:xfrm>
              <a:off x="11267793" y="5886450"/>
              <a:ext cx="314400" cy="54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l">
                <a:lnSpc>
                  <a:spcPct val="1631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76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10%</a:t>
              </a:r>
              <a:endParaRPr/>
            </a:p>
          </p:txBody>
        </p:sp>
        <p:sp>
          <p:nvSpPr>
            <p:cNvPr id="178" name="Google Shape;178;p16"/>
            <p:cNvSpPr txBox="1"/>
            <p:nvPr/>
          </p:nvSpPr>
          <p:spPr>
            <a:xfrm>
              <a:off x="6705432" y="6343650"/>
              <a:ext cx="1066800" cy="2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l">
                <a:lnSpc>
                  <a:spcPct val="1631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76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Others</a:t>
              </a:r>
              <a:endParaRPr/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7772205" y="6334125"/>
              <a:ext cx="3381290" cy="26669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6"/>
            <p:cNvSpPr txBox="1"/>
            <p:nvPr/>
          </p:nvSpPr>
          <p:spPr>
            <a:xfrm>
              <a:off x="11267793" y="6343650"/>
              <a:ext cx="314400" cy="54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l">
                <a:lnSpc>
                  <a:spcPct val="1631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76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15%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 txBox="1"/>
          <p:nvPr/>
        </p:nvSpPr>
        <p:spPr>
          <a:xfrm>
            <a:off x="761980" y="66674"/>
            <a:ext cx="10667733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761980" y="714375"/>
            <a:ext cx="10667733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609584" y="1085850"/>
            <a:ext cx="4876678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Steps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609576" y="1485900"/>
            <a:ext cx="44703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Incident Aggregation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609576" y="1905001"/>
            <a:ext cx="4470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multiple updates per incident into single record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609576" y="2476501"/>
            <a:ext cx="44703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Value Handling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609576" y="2895600"/>
            <a:ext cx="4470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Impute or remove incomplete entries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609576" y="3467100"/>
            <a:ext cx="44703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Duplicate Removal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609576" y="3886200"/>
            <a:ext cx="4470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Eliminate redundant incident records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609576" y="4448176"/>
            <a:ext cx="44703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Rare Class Filtering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609576" y="4867276"/>
            <a:ext cx="4470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categories with insufficient samples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609576" y="5438776"/>
            <a:ext cx="44703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Balancing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609576" y="5857875"/>
            <a:ext cx="4470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techniques to address class imbalance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6705370" y="988225"/>
            <a:ext cx="48768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 Workflow</a:t>
            </a:r>
            <a:endParaRPr/>
          </a:p>
        </p:txBody>
      </p:sp>
      <p:grpSp>
        <p:nvGrpSpPr>
          <p:cNvPr id="199" name="Google Shape;199;p17"/>
          <p:cNvGrpSpPr/>
          <p:nvPr/>
        </p:nvGrpSpPr>
        <p:grpSpPr>
          <a:xfrm>
            <a:off x="5486255" y="1571624"/>
            <a:ext cx="2743200" cy="628800"/>
            <a:chOff x="8349105" y="757224"/>
            <a:chExt cx="2743200" cy="628800"/>
          </a:xfrm>
        </p:grpSpPr>
        <p:sp>
          <p:nvSpPr>
            <p:cNvPr id="200" name="Google Shape;200;p17"/>
            <p:cNvSpPr/>
            <p:nvPr/>
          </p:nvSpPr>
          <p:spPr>
            <a:xfrm>
              <a:off x="8349105" y="757224"/>
              <a:ext cx="2743200" cy="628800"/>
            </a:xfrm>
            <a:prstGeom prst="rect">
              <a:avLst/>
            </a:prstGeom>
            <a:solidFill>
              <a:srgbClr val="FFFFFF"/>
            </a:solidFill>
            <a:ln cap="flat" cmpd="sng" w="165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7"/>
            <p:cNvSpPr txBox="1"/>
            <p:nvPr/>
          </p:nvSpPr>
          <p:spPr>
            <a:xfrm>
              <a:off x="8487088" y="963900"/>
              <a:ext cx="2467200" cy="2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ctr">
                <a:lnSpc>
                  <a:spcPct val="16304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96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Raw Incident Logs</a:t>
              </a:r>
              <a:endParaRPr/>
            </a:p>
          </p:txBody>
        </p:sp>
      </p:grpSp>
      <p:grpSp>
        <p:nvGrpSpPr>
          <p:cNvPr id="202" name="Google Shape;202;p17"/>
          <p:cNvGrpSpPr/>
          <p:nvPr/>
        </p:nvGrpSpPr>
        <p:grpSpPr>
          <a:xfrm>
            <a:off x="8839055" y="1611424"/>
            <a:ext cx="2743131" cy="628650"/>
            <a:chOff x="7772205" y="1866899"/>
            <a:chExt cx="2743131" cy="628650"/>
          </a:xfrm>
        </p:grpSpPr>
        <p:sp>
          <p:nvSpPr>
            <p:cNvPr id="203" name="Google Shape;203;p17"/>
            <p:cNvSpPr/>
            <p:nvPr/>
          </p:nvSpPr>
          <p:spPr>
            <a:xfrm>
              <a:off x="7772205" y="1866899"/>
              <a:ext cx="2743131" cy="628650"/>
            </a:xfrm>
            <a:prstGeom prst="rect">
              <a:avLst/>
            </a:prstGeom>
            <a:solidFill>
              <a:srgbClr val="FFFFFF"/>
            </a:solidFill>
            <a:ln cap="flat" cmpd="sng" w="165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7"/>
            <p:cNvSpPr txBox="1"/>
            <p:nvPr/>
          </p:nvSpPr>
          <p:spPr>
            <a:xfrm>
              <a:off x="7954126" y="2043300"/>
              <a:ext cx="2379300" cy="2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ctr">
                <a:lnSpc>
                  <a:spcPct val="16304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96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Incident Aggregation</a:t>
              </a:r>
              <a:endParaRPr/>
            </a:p>
          </p:txBody>
        </p:sp>
      </p:grpSp>
      <p:grpSp>
        <p:nvGrpSpPr>
          <p:cNvPr id="205" name="Google Shape;205;p17"/>
          <p:cNvGrpSpPr/>
          <p:nvPr/>
        </p:nvGrpSpPr>
        <p:grpSpPr>
          <a:xfrm>
            <a:off x="5486293" y="2562224"/>
            <a:ext cx="2743131" cy="628650"/>
            <a:chOff x="7772205" y="2876549"/>
            <a:chExt cx="2743131" cy="628650"/>
          </a:xfrm>
        </p:grpSpPr>
        <p:sp>
          <p:nvSpPr>
            <p:cNvPr id="206" name="Google Shape;206;p17"/>
            <p:cNvSpPr/>
            <p:nvPr/>
          </p:nvSpPr>
          <p:spPr>
            <a:xfrm>
              <a:off x="7772205" y="2876549"/>
              <a:ext cx="2743131" cy="628650"/>
            </a:xfrm>
            <a:prstGeom prst="rect">
              <a:avLst/>
            </a:prstGeom>
            <a:solidFill>
              <a:srgbClr val="FFFFFF"/>
            </a:solidFill>
            <a:ln cap="flat" cmpd="sng" w="165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7"/>
            <p:cNvSpPr txBox="1"/>
            <p:nvPr/>
          </p:nvSpPr>
          <p:spPr>
            <a:xfrm>
              <a:off x="7910163" y="3033900"/>
              <a:ext cx="2467200" cy="2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ctr">
                <a:lnSpc>
                  <a:spcPct val="16304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96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Missing Value Handling</a:t>
              </a:r>
              <a:endParaRPr/>
            </a:p>
          </p:txBody>
        </p:sp>
      </p:grpSp>
      <p:grpSp>
        <p:nvGrpSpPr>
          <p:cNvPr id="208" name="Google Shape;208;p17"/>
          <p:cNvGrpSpPr/>
          <p:nvPr/>
        </p:nvGrpSpPr>
        <p:grpSpPr>
          <a:xfrm>
            <a:off x="8839055" y="2562224"/>
            <a:ext cx="2743131" cy="628650"/>
            <a:chOff x="7772205" y="3867149"/>
            <a:chExt cx="2743131" cy="628650"/>
          </a:xfrm>
        </p:grpSpPr>
        <p:sp>
          <p:nvSpPr>
            <p:cNvPr id="209" name="Google Shape;209;p17"/>
            <p:cNvSpPr/>
            <p:nvPr/>
          </p:nvSpPr>
          <p:spPr>
            <a:xfrm>
              <a:off x="7772205" y="3867149"/>
              <a:ext cx="2743131" cy="628650"/>
            </a:xfrm>
            <a:prstGeom prst="rect">
              <a:avLst/>
            </a:prstGeom>
            <a:solidFill>
              <a:srgbClr val="FFFFFF"/>
            </a:solidFill>
            <a:ln cap="flat" cmpd="sng" w="165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7"/>
            <p:cNvSpPr txBox="1"/>
            <p:nvPr/>
          </p:nvSpPr>
          <p:spPr>
            <a:xfrm>
              <a:off x="7910176" y="4043551"/>
              <a:ext cx="2467200" cy="2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ctr">
                <a:lnSpc>
                  <a:spcPct val="16304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96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Duplicate Removal</a:t>
              </a:r>
              <a:endParaRPr/>
            </a:p>
          </p:txBody>
        </p:sp>
      </p:grpSp>
      <p:grpSp>
        <p:nvGrpSpPr>
          <p:cNvPr id="211" name="Google Shape;211;p17"/>
          <p:cNvGrpSpPr/>
          <p:nvPr/>
        </p:nvGrpSpPr>
        <p:grpSpPr>
          <a:xfrm>
            <a:off x="5486293" y="3624263"/>
            <a:ext cx="2743131" cy="628650"/>
            <a:chOff x="7772205" y="4876800"/>
            <a:chExt cx="2743131" cy="628650"/>
          </a:xfrm>
        </p:grpSpPr>
        <p:sp>
          <p:nvSpPr>
            <p:cNvPr id="212" name="Google Shape;212;p17"/>
            <p:cNvSpPr/>
            <p:nvPr/>
          </p:nvSpPr>
          <p:spPr>
            <a:xfrm>
              <a:off x="7772205" y="4876800"/>
              <a:ext cx="2743131" cy="628650"/>
            </a:xfrm>
            <a:prstGeom prst="rect">
              <a:avLst/>
            </a:prstGeom>
            <a:solidFill>
              <a:srgbClr val="FFFFFF"/>
            </a:solidFill>
            <a:ln cap="flat" cmpd="sng" w="165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17"/>
            <p:cNvSpPr txBox="1"/>
            <p:nvPr/>
          </p:nvSpPr>
          <p:spPr>
            <a:xfrm>
              <a:off x="7910163" y="5034150"/>
              <a:ext cx="2467200" cy="2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ctr">
                <a:lnSpc>
                  <a:spcPct val="16304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96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Rare Class Filtering</a:t>
              </a:r>
              <a:endParaRPr/>
            </a:p>
          </p:txBody>
        </p:sp>
      </p:grpSp>
      <p:grpSp>
        <p:nvGrpSpPr>
          <p:cNvPr id="214" name="Google Shape;214;p17"/>
          <p:cNvGrpSpPr/>
          <p:nvPr/>
        </p:nvGrpSpPr>
        <p:grpSpPr>
          <a:xfrm>
            <a:off x="8839055" y="3624274"/>
            <a:ext cx="2743131" cy="628650"/>
            <a:chOff x="7772205" y="5867399"/>
            <a:chExt cx="2743131" cy="628650"/>
          </a:xfrm>
        </p:grpSpPr>
        <p:sp>
          <p:nvSpPr>
            <p:cNvPr id="215" name="Google Shape;215;p17"/>
            <p:cNvSpPr/>
            <p:nvPr/>
          </p:nvSpPr>
          <p:spPr>
            <a:xfrm>
              <a:off x="7772205" y="5867399"/>
              <a:ext cx="2743131" cy="628650"/>
            </a:xfrm>
            <a:prstGeom prst="rect">
              <a:avLst/>
            </a:prstGeom>
            <a:solidFill>
              <a:srgbClr val="FFFFFF"/>
            </a:solidFill>
            <a:ln cap="flat" cmpd="sng" w="165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17"/>
            <p:cNvSpPr txBox="1"/>
            <p:nvPr/>
          </p:nvSpPr>
          <p:spPr>
            <a:xfrm>
              <a:off x="7910163" y="6043800"/>
              <a:ext cx="2467200" cy="2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850" lIns="73150" spcFirstLastPara="1" rIns="73150" wrap="square" tIns="54850">
              <a:spAutoFit/>
            </a:bodyPr>
            <a:lstStyle/>
            <a:p>
              <a:pPr indent="0" lvl="0" marL="0" marR="0" rtl="0" algn="ctr">
                <a:lnSpc>
                  <a:spcPct val="16304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96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Dataset Balancing</a:t>
              </a:r>
              <a:endParaRPr/>
            </a:p>
          </p:txBody>
        </p:sp>
      </p:grpSp>
      <p:sp>
        <p:nvSpPr>
          <p:cNvPr id="217" name="Google Shape;217;p17"/>
          <p:cNvSpPr/>
          <p:nvPr/>
        </p:nvSpPr>
        <p:spPr>
          <a:xfrm>
            <a:off x="7137243" y="4552775"/>
            <a:ext cx="2743200" cy="628800"/>
          </a:xfrm>
          <a:prstGeom prst="rect">
            <a:avLst/>
          </a:prstGeom>
          <a:solidFill>
            <a:srgbClr val="FFFFFF"/>
          </a:solidFill>
          <a:ln cap="flat" cmpd="sng" w="16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 txBox="1"/>
          <p:nvPr/>
        </p:nvSpPr>
        <p:spPr>
          <a:xfrm>
            <a:off x="7137205" y="4719638"/>
            <a:ext cx="2743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Dataset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 txBox="1"/>
          <p:nvPr/>
        </p:nvSpPr>
        <p:spPr>
          <a:xfrm>
            <a:off x="761980" y="66674"/>
            <a:ext cx="10667733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 &amp; NLP</a:t>
            </a:r>
            <a:endParaRPr/>
          </a:p>
        </p:txBody>
      </p:sp>
      <p:sp>
        <p:nvSpPr>
          <p:cNvPr id="224" name="Google Shape;224;p18"/>
          <p:cNvSpPr/>
          <p:nvPr/>
        </p:nvSpPr>
        <p:spPr>
          <a:xfrm>
            <a:off x="761980" y="714375"/>
            <a:ext cx="10667733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609584" y="1076325"/>
            <a:ext cx="4857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</a:t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609584" y="2152650"/>
            <a:ext cx="2352616" cy="9239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790555" y="2295525"/>
            <a:ext cx="19906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Priority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790555" y="2676524"/>
            <a:ext cx="1990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/ Medium / High</a:t>
            </a:r>
            <a:endParaRPr/>
          </a:p>
        </p:txBody>
      </p:sp>
      <p:sp>
        <p:nvSpPr>
          <p:cNvPr id="229" name="Google Shape;229;p18"/>
          <p:cNvSpPr/>
          <p:nvPr/>
        </p:nvSpPr>
        <p:spPr>
          <a:xfrm>
            <a:off x="3114597" y="2152650"/>
            <a:ext cx="2352616" cy="9239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 txBox="1"/>
          <p:nvPr/>
        </p:nvSpPr>
        <p:spPr>
          <a:xfrm>
            <a:off x="3295567" y="2295525"/>
            <a:ext cx="19906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3295567" y="2676524"/>
            <a:ext cx="1990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/ Medium / High</a:t>
            </a:r>
            <a:endParaRPr/>
          </a:p>
        </p:txBody>
      </p:sp>
      <p:sp>
        <p:nvSpPr>
          <p:cNvPr id="232" name="Google Shape;232;p18"/>
          <p:cNvSpPr/>
          <p:nvPr/>
        </p:nvSpPr>
        <p:spPr>
          <a:xfrm>
            <a:off x="609584" y="3228975"/>
            <a:ext cx="2352616" cy="9239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790555" y="3371850"/>
            <a:ext cx="19906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Urgency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790555" y="3752849"/>
            <a:ext cx="1990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/ Medium / High</a:t>
            </a:r>
            <a:endParaRPr/>
          </a:p>
        </p:txBody>
      </p:sp>
      <p:sp>
        <p:nvSpPr>
          <p:cNvPr id="235" name="Google Shape;235;p18"/>
          <p:cNvSpPr/>
          <p:nvPr/>
        </p:nvSpPr>
        <p:spPr>
          <a:xfrm>
            <a:off x="3114597" y="3228975"/>
            <a:ext cx="2352616" cy="9239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3295567" y="3371850"/>
            <a:ext cx="19906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Reassignment Count</a:t>
            </a:r>
            <a:endParaRPr/>
          </a:p>
        </p:txBody>
      </p:sp>
      <p:sp>
        <p:nvSpPr>
          <p:cNvPr id="237" name="Google Shape;237;p18"/>
          <p:cNvSpPr txBox="1"/>
          <p:nvPr/>
        </p:nvSpPr>
        <p:spPr>
          <a:xfrm>
            <a:off x="3295567" y="3752849"/>
            <a:ext cx="1990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Numerical</a:t>
            </a:r>
            <a:endParaRPr/>
          </a:p>
        </p:txBody>
      </p:sp>
      <p:sp>
        <p:nvSpPr>
          <p:cNvPr id="238" name="Google Shape;238;p18"/>
          <p:cNvSpPr/>
          <p:nvPr/>
        </p:nvSpPr>
        <p:spPr>
          <a:xfrm>
            <a:off x="609584" y="4305300"/>
            <a:ext cx="2352616" cy="9239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790555" y="4448175"/>
            <a:ext cx="19906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Reopen Count</a:t>
            </a:r>
            <a:endParaRPr/>
          </a:p>
        </p:txBody>
      </p:sp>
      <p:sp>
        <p:nvSpPr>
          <p:cNvPr id="240" name="Google Shape;240;p18"/>
          <p:cNvSpPr txBox="1"/>
          <p:nvPr/>
        </p:nvSpPr>
        <p:spPr>
          <a:xfrm>
            <a:off x="790555" y="4829175"/>
            <a:ext cx="1990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Numerical</a:t>
            </a: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3114597" y="4305300"/>
            <a:ext cx="2352616" cy="9239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 txBox="1"/>
          <p:nvPr/>
        </p:nvSpPr>
        <p:spPr>
          <a:xfrm>
            <a:off x="3295567" y="4448175"/>
            <a:ext cx="19906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Incident Duration</a:t>
            </a:r>
            <a:endParaRPr/>
          </a:p>
        </p:txBody>
      </p:sp>
      <p:sp>
        <p:nvSpPr>
          <p:cNvPr id="243" name="Google Shape;243;p18"/>
          <p:cNvSpPr txBox="1"/>
          <p:nvPr/>
        </p:nvSpPr>
        <p:spPr>
          <a:xfrm>
            <a:off x="3295567" y="4829175"/>
            <a:ext cx="1990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Hours</a:t>
            </a:r>
            <a:endParaRPr/>
          </a:p>
        </p:txBody>
      </p:sp>
      <p:sp>
        <p:nvSpPr>
          <p:cNvPr id="244" name="Google Shape;244;p18"/>
          <p:cNvSpPr txBox="1"/>
          <p:nvPr/>
        </p:nvSpPr>
        <p:spPr>
          <a:xfrm>
            <a:off x="609584" y="5534025"/>
            <a:ext cx="485762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Structured features derived from incident metadata to complement textual information</a:t>
            </a:r>
            <a:endParaRPr/>
          </a:p>
        </p:txBody>
      </p:sp>
      <p:sp>
        <p:nvSpPr>
          <p:cNvPr id="245" name="Google Shape;245;p18"/>
          <p:cNvSpPr txBox="1"/>
          <p:nvPr/>
        </p:nvSpPr>
        <p:spPr>
          <a:xfrm>
            <a:off x="6705482" y="1124113"/>
            <a:ext cx="48768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NLP Processing</a:t>
            </a: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6705482" y="1943263"/>
            <a:ext cx="76200" cy="762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 txBox="1"/>
          <p:nvPr/>
        </p:nvSpPr>
        <p:spPr>
          <a:xfrm>
            <a:off x="6934076" y="1828963"/>
            <a:ext cx="42672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Cleaning</a:t>
            </a:r>
            <a:endParaRPr/>
          </a:p>
        </p:txBody>
      </p:sp>
      <p:sp>
        <p:nvSpPr>
          <p:cNvPr id="248" name="Google Shape;248;p18"/>
          <p:cNvSpPr txBox="1"/>
          <p:nvPr/>
        </p:nvSpPr>
        <p:spPr>
          <a:xfrm>
            <a:off x="6934076" y="2248063"/>
            <a:ext cx="42672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Lowercase, remove special characters, punctuation</a:t>
            </a: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6705482" y="2838612"/>
            <a:ext cx="76200" cy="762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 txBox="1"/>
          <p:nvPr/>
        </p:nvSpPr>
        <p:spPr>
          <a:xfrm>
            <a:off x="6934076" y="2724312"/>
            <a:ext cx="34383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TF-IDF Vectorization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6934076" y="3143413"/>
            <a:ext cx="3438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text to numerical feature vectors</a:t>
            </a:r>
            <a:endParaRPr/>
          </a:p>
        </p:txBody>
      </p:sp>
      <p:sp>
        <p:nvSpPr>
          <p:cNvPr id="252" name="Google Shape;252;p18"/>
          <p:cNvSpPr txBox="1"/>
          <p:nvPr/>
        </p:nvSpPr>
        <p:spPr>
          <a:xfrm>
            <a:off x="6705470" y="3847300"/>
            <a:ext cx="4876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Text-to-Vector Workflow</a:t>
            </a:r>
            <a:endParaRPr/>
          </a:p>
        </p:txBody>
      </p:sp>
      <p:grpSp>
        <p:nvGrpSpPr>
          <p:cNvPr id="253" name="Google Shape;253;p18"/>
          <p:cNvGrpSpPr/>
          <p:nvPr/>
        </p:nvGrpSpPr>
        <p:grpSpPr>
          <a:xfrm>
            <a:off x="6705387" y="4475912"/>
            <a:ext cx="1990660" cy="466573"/>
            <a:chOff x="7924601" y="3486150"/>
            <a:chExt cx="2438339" cy="571500"/>
          </a:xfrm>
        </p:grpSpPr>
        <p:sp>
          <p:nvSpPr>
            <p:cNvPr id="254" name="Google Shape;254;p18"/>
            <p:cNvSpPr/>
            <p:nvPr/>
          </p:nvSpPr>
          <p:spPr>
            <a:xfrm>
              <a:off x="7924601" y="3486150"/>
              <a:ext cx="2438339" cy="571500"/>
            </a:xfrm>
            <a:prstGeom prst="rect">
              <a:avLst/>
            </a:prstGeom>
            <a:solidFill>
              <a:srgbClr val="FFFFFF"/>
            </a:solidFill>
            <a:ln cap="flat" cmpd="sng" w="77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2656" rotWithShape="0" dir="5400000" dist="18777">
                <a:srgbClr val="000000">
                  <a:alpha val="34901"/>
                </a:srgbClr>
              </a:outerShdw>
            </a:effectLst>
          </p:spPr>
          <p:txBody>
            <a:bodyPr anchorCtr="0" anchor="ctr" bIns="37300" lIns="74650" spcFirstLastPara="1" rIns="74650" wrap="square" tIns="373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8"/>
            <p:cNvSpPr txBox="1"/>
            <p:nvPr/>
          </p:nvSpPr>
          <p:spPr>
            <a:xfrm>
              <a:off x="8055813" y="3595875"/>
              <a:ext cx="2175900" cy="2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775" lIns="59725" spcFirstLastPara="1" rIns="59725" wrap="square" tIns="44775">
              <a:spAutoFit/>
            </a:bodyPr>
            <a:lstStyle/>
            <a:p>
              <a:pPr indent="0" lvl="0" marL="0" marR="0" rtl="0" algn="ctr">
                <a:lnSpc>
                  <a:spcPct val="16304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6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Incident Description</a:t>
              </a:r>
              <a:endParaRPr sz="1143"/>
            </a:p>
          </p:txBody>
        </p:sp>
      </p:grpSp>
      <p:grpSp>
        <p:nvGrpSpPr>
          <p:cNvPr id="256" name="Google Shape;256;p18"/>
          <p:cNvGrpSpPr/>
          <p:nvPr/>
        </p:nvGrpSpPr>
        <p:grpSpPr>
          <a:xfrm>
            <a:off x="9210495" y="4504609"/>
            <a:ext cx="1990660" cy="466573"/>
            <a:chOff x="7924601" y="4400550"/>
            <a:chExt cx="2438339" cy="571500"/>
          </a:xfrm>
        </p:grpSpPr>
        <p:sp>
          <p:nvSpPr>
            <p:cNvPr id="257" name="Google Shape;257;p18"/>
            <p:cNvSpPr/>
            <p:nvPr/>
          </p:nvSpPr>
          <p:spPr>
            <a:xfrm>
              <a:off x="7924601" y="4400550"/>
              <a:ext cx="2438339" cy="571500"/>
            </a:xfrm>
            <a:prstGeom prst="rect">
              <a:avLst/>
            </a:prstGeom>
            <a:solidFill>
              <a:srgbClr val="FFFFFF"/>
            </a:solidFill>
            <a:ln cap="flat" cmpd="sng" w="77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2656" rotWithShape="0" dir="5400000" dist="18777">
                <a:srgbClr val="000000">
                  <a:alpha val="34901"/>
                </a:srgbClr>
              </a:outerShdw>
            </a:effectLst>
          </p:spPr>
          <p:txBody>
            <a:bodyPr anchorCtr="0" anchor="ctr" bIns="37300" lIns="74650" spcFirstLastPara="1" rIns="74650" wrap="square" tIns="373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8"/>
            <p:cNvSpPr txBox="1"/>
            <p:nvPr/>
          </p:nvSpPr>
          <p:spPr>
            <a:xfrm>
              <a:off x="8075613" y="4505413"/>
              <a:ext cx="2136300" cy="2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775" lIns="59725" spcFirstLastPara="1" rIns="59725" wrap="square" tIns="44775">
              <a:spAutoFit/>
            </a:bodyPr>
            <a:lstStyle/>
            <a:p>
              <a:pPr indent="0" lvl="0" marL="0" marR="0" rtl="0" algn="ctr">
                <a:lnSpc>
                  <a:spcPct val="16304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6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Text Cleaning</a:t>
              </a:r>
              <a:endParaRPr sz="1143"/>
            </a:p>
          </p:txBody>
        </p:sp>
      </p:grpSp>
      <p:grpSp>
        <p:nvGrpSpPr>
          <p:cNvPr id="259" name="Google Shape;259;p18"/>
          <p:cNvGrpSpPr/>
          <p:nvPr/>
        </p:nvGrpSpPr>
        <p:grpSpPr>
          <a:xfrm>
            <a:off x="6705375" y="5214215"/>
            <a:ext cx="1990660" cy="466573"/>
            <a:chOff x="7924601" y="5295899"/>
            <a:chExt cx="2438339" cy="571500"/>
          </a:xfrm>
        </p:grpSpPr>
        <p:sp>
          <p:nvSpPr>
            <p:cNvPr id="260" name="Google Shape;260;p18"/>
            <p:cNvSpPr/>
            <p:nvPr/>
          </p:nvSpPr>
          <p:spPr>
            <a:xfrm>
              <a:off x="7924601" y="5295899"/>
              <a:ext cx="2438339" cy="571500"/>
            </a:xfrm>
            <a:prstGeom prst="rect">
              <a:avLst/>
            </a:prstGeom>
            <a:solidFill>
              <a:srgbClr val="FFFFFF"/>
            </a:solidFill>
            <a:ln cap="flat" cmpd="sng" w="77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2656" rotWithShape="0" dir="5400000" dist="18777">
                <a:srgbClr val="000000">
                  <a:alpha val="34901"/>
                </a:srgbClr>
              </a:outerShdw>
            </a:effectLst>
          </p:spPr>
          <p:txBody>
            <a:bodyPr anchorCtr="0" anchor="ctr" bIns="37300" lIns="74650" spcFirstLastPara="1" rIns="74650" wrap="square" tIns="373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8"/>
            <p:cNvSpPr txBox="1"/>
            <p:nvPr/>
          </p:nvSpPr>
          <p:spPr>
            <a:xfrm>
              <a:off x="8148363" y="5424638"/>
              <a:ext cx="1990800" cy="2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775" lIns="59725" spcFirstLastPara="1" rIns="59725" wrap="square" tIns="44775">
              <a:spAutoFit/>
            </a:bodyPr>
            <a:lstStyle/>
            <a:p>
              <a:pPr indent="0" lvl="0" marL="0" marR="0" rtl="0" algn="ctr">
                <a:lnSpc>
                  <a:spcPct val="16304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6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Tokenization</a:t>
              </a:r>
              <a:endParaRPr sz="1143"/>
            </a:p>
          </p:txBody>
        </p:sp>
      </p:grpSp>
      <p:grpSp>
        <p:nvGrpSpPr>
          <p:cNvPr id="262" name="Google Shape;262;p18"/>
          <p:cNvGrpSpPr/>
          <p:nvPr/>
        </p:nvGrpSpPr>
        <p:grpSpPr>
          <a:xfrm>
            <a:off x="9210467" y="5285576"/>
            <a:ext cx="1990710" cy="466573"/>
            <a:chOff x="7924601" y="5641149"/>
            <a:chExt cx="2438400" cy="571500"/>
          </a:xfrm>
        </p:grpSpPr>
        <p:sp>
          <p:nvSpPr>
            <p:cNvPr id="263" name="Google Shape;263;p18"/>
            <p:cNvSpPr/>
            <p:nvPr/>
          </p:nvSpPr>
          <p:spPr>
            <a:xfrm>
              <a:off x="7924601" y="5641149"/>
              <a:ext cx="2438400" cy="571500"/>
            </a:xfrm>
            <a:prstGeom prst="rect">
              <a:avLst/>
            </a:prstGeom>
            <a:solidFill>
              <a:srgbClr val="FFFFFF"/>
            </a:solidFill>
            <a:ln cap="flat" cmpd="sng" w="77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2656" rotWithShape="0" dir="5400000" dist="18777">
                <a:srgbClr val="000000">
                  <a:alpha val="34901"/>
                </a:srgbClr>
              </a:outerShdw>
            </a:effectLst>
          </p:spPr>
          <p:txBody>
            <a:bodyPr anchorCtr="0" anchor="ctr" bIns="37300" lIns="74650" spcFirstLastPara="1" rIns="74650" wrap="square" tIns="373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8"/>
            <p:cNvSpPr txBox="1"/>
            <p:nvPr/>
          </p:nvSpPr>
          <p:spPr>
            <a:xfrm>
              <a:off x="8090798" y="5779453"/>
              <a:ext cx="2106000" cy="2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775" lIns="59725" spcFirstLastPara="1" rIns="59725" wrap="square" tIns="44775">
              <a:spAutoFit/>
            </a:bodyPr>
            <a:lstStyle/>
            <a:p>
              <a:pPr indent="0" lvl="0" marL="0" marR="0" rtl="0" algn="ctr">
                <a:lnSpc>
                  <a:spcPct val="16304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6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TF-IDF Vectorization</a:t>
              </a:r>
              <a:endParaRPr sz="1143"/>
            </a:p>
          </p:txBody>
        </p:sp>
      </p:grpSp>
      <p:grpSp>
        <p:nvGrpSpPr>
          <p:cNvPr id="265" name="Google Shape;265;p18"/>
          <p:cNvGrpSpPr/>
          <p:nvPr/>
        </p:nvGrpSpPr>
        <p:grpSpPr>
          <a:xfrm>
            <a:off x="7944486" y="6066551"/>
            <a:ext cx="1990720" cy="466573"/>
            <a:chOff x="7924589" y="5686425"/>
            <a:chExt cx="2438413" cy="571500"/>
          </a:xfrm>
        </p:grpSpPr>
        <p:sp>
          <p:nvSpPr>
            <p:cNvPr id="266" name="Google Shape;266;p18"/>
            <p:cNvSpPr/>
            <p:nvPr/>
          </p:nvSpPr>
          <p:spPr>
            <a:xfrm>
              <a:off x="7924589" y="5686425"/>
              <a:ext cx="2438400" cy="571500"/>
            </a:xfrm>
            <a:prstGeom prst="rect">
              <a:avLst/>
            </a:prstGeom>
            <a:solidFill>
              <a:srgbClr val="FFFFFF"/>
            </a:solidFill>
            <a:ln cap="flat" cmpd="sng" w="77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2656" rotWithShape="0" dir="5400000" dist="18777">
                <a:srgbClr val="000000">
                  <a:alpha val="34901"/>
                </a:srgbClr>
              </a:outerShdw>
            </a:effectLst>
          </p:spPr>
          <p:txBody>
            <a:bodyPr anchorCtr="0" anchor="ctr" bIns="37300" lIns="74650" spcFirstLastPara="1" rIns="74650" wrap="square" tIns="373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8"/>
            <p:cNvSpPr txBox="1"/>
            <p:nvPr/>
          </p:nvSpPr>
          <p:spPr>
            <a:xfrm>
              <a:off x="7924601" y="5772175"/>
              <a:ext cx="2438400" cy="2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775" lIns="59725" spcFirstLastPara="1" rIns="59725" wrap="square" tIns="44775">
              <a:spAutoFit/>
            </a:bodyPr>
            <a:lstStyle/>
            <a:p>
              <a:pPr indent="0" lvl="0" marL="0" marR="0" rtl="0" algn="ctr">
                <a:lnSpc>
                  <a:spcPct val="16304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6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Feature Vector</a:t>
              </a:r>
              <a:endParaRPr sz="1143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/>
          <p:nvPr/>
        </p:nvSpPr>
        <p:spPr>
          <a:xfrm>
            <a:off x="761980" y="66674"/>
            <a:ext cx="10667733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MODELS</a:t>
            </a: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761980" y="714375"/>
            <a:ext cx="10667733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 txBox="1"/>
          <p:nvPr/>
        </p:nvSpPr>
        <p:spPr>
          <a:xfrm>
            <a:off x="609584" y="895350"/>
            <a:ext cx="4857628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Evaluated</a:t>
            </a:r>
            <a:endParaRPr/>
          </a:p>
        </p:txBody>
      </p:sp>
      <p:sp>
        <p:nvSpPr>
          <p:cNvPr id="275" name="Google Shape;275;p19"/>
          <p:cNvSpPr/>
          <p:nvPr/>
        </p:nvSpPr>
        <p:spPr>
          <a:xfrm>
            <a:off x="609584" y="1600200"/>
            <a:ext cx="4857628" cy="1152524"/>
          </a:xfrm>
          <a:prstGeom prst="rect">
            <a:avLst/>
          </a:prstGeom>
          <a:solidFill>
            <a:srgbClr val="FFFFFF"/>
          </a:solidFill>
          <a:ln cap="flat" cmpd="sng" w="16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 txBox="1"/>
          <p:nvPr/>
        </p:nvSpPr>
        <p:spPr>
          <a:xfrm>
            <a:off x="857228" y="1809749"/>
            <a:ext cx="436234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</a:t>
            </a:r>
            <a:endParaRPr/>
          </a:p>
        </p:txBody>
      </p:sp>
      <p:sp>
        <p:nvSpPr>
          <p:cNvPr id="277" name="Google Shape;277;p19"/>
          <p:cNvSpPr txBox="1"/>
          <p:nvPr/>
        </p:nvSpPr>
        <p:spPr>
          <a:xfrm>
            <a:off x="857228" y="2247899"/>
            <a:ext cx="436234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classification with probabilistic interpretation</a:t>
            </a:r>
            <a:endParaRPr/>
          </a:p>
        </p:txBody>
      </p:sp>
      <p:sp>
        <p:nvSpPr>
          <p:cNvPr id="278" name="Google Shape;278;p19"/>
          <p:cNvSpPr/>
          <p:nvPr/>
        </p:nvSpPr>
        <p:spPr>
          <a:xfrm>
            <a:off x="609584" y="2933699"/>
            <a:ext cx="4857628" cy="1152524"/>
          </a:xfrm>
          <a:prstGeom prst="rect">
            <a:avLst/>
          </a:prstGeom>
          <a:solidFill>
            <a:srgbClr val="FFFFFF"/>
          </a:solidFill>
          <a:ln cap="flat" cmpd="sng" w="16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9"/>
          <p:cNvSpPr txBox="1"/>
          <p:nvPr/>
        </p:nvSpPr>
        <p:spPr>
          <a:xfrm>
            <a:off x="857228" y="3143250"/>
            <a:ext cx="436234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Tree</a:t>
            </a:r>
            <a:endParaRPr/>
          </a:p>
        </p:txBody>
      </p:sp>
      <p:sp>
        <p:nvSpPr>
          <p:cNvPr id="280" name="Google Shape;280;p19"/>
          <p:cNvSpPr txBox="1"/>
          <p:nvPr/>
        </p:nvSpPr>
        <p:spPr>
          <a:xfrm>
            <a:off x="857228" y="3600450"/>
            <a:ext cx="436234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Tree-based model with interpretable rules</a:t>
            </a:r>
            <a:endParaRPr/>
          </a:p>
        </p:txBody>
      </p:sp>
      <p:sp>
        <p:nvSpPr>
          <p:cNvPr id="281" name="Google Shape;281;p19"/>
          <p:cNvSpPr/>
          <p:nvPr/>
        </p:nvSpPr>
        <p:spPr>
          <a:xfrm>
            <a:off x="609584" y="4286250"/>
            <a:ext cx="4857628" cy="1152524"/>
          </a:xfrm>
          <a:prstGeom prst="rect">
            <a:avLst/>
          </a:prstGeom>
          <a:solidFill>
            <a:srgbClr val="FFFFFF"/>
          </a:solidFill>
          <a:ln cap="flat" cmpd="sng" w="16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 txBox="1"/>
          <p:nvPr/>
        </p:nvSpPr>
        <p:spPr>
          <a:xfrm>
            <a:off x="857228" y="4495799"/>
            <a:ext cx="436234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Vector Machine (SVM)</a:t>
            </a:r>
            <a:endParaRPr/>
          </a:p>
        </p:txBody>
      </p:sp>
      <p:sp>
        <p:nvSpPr>
          <p:cNvPr id="283" name="Google Shape;283;p19"/>
          <p:cNvSpPr txBox="1"/>
          <p:nvPr/>
        </p:nvSpPr>
        <p:spPr>
          <a:xfrm>
            <a:off x="857228" y="4933950"/>
            <a:ext cx="436234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 hyperplane for classification</a:t>
            </a:r>
            <a:endParaRPr/>
          </a:p>
        </p:txBody>
      </p:sp>
      <p:sp>
        <p:nvSpPr>
          <p:cNvPr id="284" name="Google Shape;284;p19"/>
          <p:cNvSpPr/>
          <p:nvPr/>
        </p:nvSpPr>
        <p:spPr>
          <a:xfrm>
            <a:off x="609584" y="5619750"/>
            <a:ext cx="4857628" cy="1152524"/>
          </a:xfrm>
          <a:prstGeom prst="rect">
            <a:avLst/>
          </a:prstGeom>
          <a:solidFill>
            <a:srgbClr val="FFFFFF"/>
          </a:solidFill>
          <a:ln cap="flat" cmpd="sng" w="16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857228" y="5829300"/>
            <a:ext cx="436234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</a:t>
            </a:r>
            <a:endParaRPr/>
          </a:p>
        </p:txBody>
      </p:sp>
      <p:sp>
        <p:nvSpPr>
          <p:cNvPr id="286" name="Google Shape;286;p19"/>
          <p:cNvSpPr txBox="1"/>
          <p:nvPr/>
        </p:nvSpPr>
        <p:spPr>
          <a:xfrm>
            <a:off x="857228" y="6286500"/>
            <a:ext cx="436234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Ensemble of decision trees for robust predictions</a:t>
            </a:r>
            <a:endParaRPr/>
          </a:p>
        </p:txBody>
      </p:sp>
      <p:sp>
        <p:nvSpPr>
          <p:cNvPr id="287" name="Google Shape;287;p19"/>
          <p:cNvSpPr txBox="1"/>
          <p:nvPr/>
        </p:nvSpPr>
        <p:spPr>
          <a:xfrm>
            <a:off x="6705432" y="885825"/>
            <a:ext cx="4876678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Comparison</a:t>
            </a:r>
            <a:endParaRPr/>
          </a:p>
        </p:txBody>
      </p:sp>
      <p:sp>
        <p:nvSpPr>
          <p:cNvPr id="288" name="Google Shape;288;p19"/>
          <p:cNvSpPr txBox="1"/>
          <p:nvPr/>
        </p:nvSpPr>
        <p:spPr>
          <a:xfrm>
            <a:off x="6705432" y="1514475"/>
            <a:ext cx="4876678" cy="1019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models compared to identify the best performing algorithm for close-code prediction based on accuracy, precision, recall, and F1-score</a:t>
            </a:r>
            <a:endParaRPr/>
          </a:p>
        </p:txBody>
      </p:sp>
      <p:pic>
        <p:nvPicPr>
          <p:cNvPr id="289" name="Google Shape;2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5425" y="2762250"/>
            <a:ext cx="4923161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0"/>
          <p:cNvSpPr txBox="1"/>
          <p:nvPr/>
        </p:nvSpPr>
        <p:spPr>
          <a:xfrm>
            <a:off x="761980" y="66674"/>
            <a:ext cx="10667733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/>
          </a:p>
        </p:txBody>
      </p:sp>
      <p:sp>
        <p:nvSpPr>
          <p:cNvPr id="295" name="Google Shape;295;p20"/>
          <p:cNvSpPr/>
          <p:nvPr/>
        </p:nvSpPr>
        <p:spPr>
          <a:xfrm>
            <a:off x="761980" y="714375"/>
            <a:ext cx="10667733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20" title="archite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325" y="933713"/>
            <a:ext cx="10035050" cy="550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1"/>
          <p:cNvSpPr txBox="1"/>
          <p:nvPr/>
        </p:nvSpPr>
        <p:spPr>
          <a:xfrm>
            <a:off x="761980" y="66674"/>
            <a:ext cx="10667733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&amp; PERFORMANCE</a:t>
            </a:r>
            <a:endParaRPr/>
          </a:p>
        </p:txBody>
      </p:sp>
      <p:sp>
        <p:nvSpPr>
          <p:cNvPr id="302" name="Google Shape;302;p21"/>
          <p:cNvSpPr/>
          <p:nvPr/>
        </p:nvSpPr>
        <p:spPr>
          <a:xfrm>
            <a:off x="761980" y="714375"/>
            <a:ext cx="10667733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609584" y="1047749"/>
            <a:ext cx="3638459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Metrics</a:t>
            </a:r>
            <a:endParaRPr/>
          </a:p>
        </p:txBody>
      </p:sp>
      <p:sp>
        <p:nvSpPr>
          <p:cNvPr id="304" name="Google Shape;304;p21"/>
          <p:cNvSpPr/>
          <p:nvPr/>
        </p:nvSpPr>
        <p:spPr>
          <a:xfrm>
            <a:off x="609584" y="1752599"/>
            <a:ext cx="1743031" cy="1447800"/>
          </a:xfrm>
          <a:prstGeom prst="rect">
            <a:avLst/>
          </a:prstGeom>
          <a:solidFill>
            <a:srgbClr val="FFFFFF"/>
          </a:solidFill>
          <a:ln cap="flat" cmpd="sng" w="16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819129" y="1924049"/>
            <a:ext cx="132394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</a:t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819129" y="2276474"/>
            <a:ext cx="1323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</a:t>
            </a:r>
            <a:r>
              <a:rPr b="1" lang="en-US" sz="1913">
                <a:latin typeface="Times New Roman"/>
                <a:ea typeface="Times New Roman"/>
                <a:cs typeface="Times New Roman"/>
                <a:sym typeface="Times New Roman"/>
              </a:rPr>
              <a:t>59</a:t>
            </a:r>
            <a:r>
              <a:rPr b="1" i="0" lang="en-US" sz="191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%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819129" y="2771775"/>
            <a:ext cx="13239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Best: Random Forest</a:t>
            </a:r>
            <a:endParaRPr/>
          </a:p>
        </p:txBody>
      </p:sp>
      <p:sp>
        <p:nvSpPr>
          <p:cNvPr id="308" name="Google Shape;308;p21"/>
          <p:cNvSpPr/>
          <p:nvPr/>
        </p:nvSpPr>
        <p:spPr>
          <a:xfrm>
            <a:off x="2505012" y="1752599"/>
            <a:ext cx="1743031" cy="1447800"/>
          </a:xfrm>
          <a:prstGeom prst="rect">
            <a:avLst/>
          </a:prstGeom>
          <a:solidFill>
            <a:srgbClr val="FFFFFF"/>
          </a:solidFill>
          <a:ln cap="flat" cmpd="sng" w="16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2714557" y="1924049"/>
            <a:ext cx="132394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Precision</a:t>
            </a: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2714557" y="2276474"/>
            <a:ext cx="1323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</a:t>
            </a:r>
            <a:r>
              <a:rPr b="1" lang="en-US" sz="1913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1" i="0" lang="en-US" sz="191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0%</a:t>
            </a:r>
            <a:endParaRPr/>
          </a:p>
        </p:txBody>
      </p:sp>
      <p:sp>
        <p:nvSpPr>
          <p:cNvPr id="311" name="Google Shape;311;p21"/>
          <p:cNvSpPr txBox="1"/>
          <p:nvPr/>
        </p:nvSpPr>
        <p:spPr>
          <a:xfrm>
            <a:off x="2714557" y="2771775"/>
            <a:ext cx="132394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Across models</a:t>
            </a:r>
            <a:endParaRPr/>
          </a:p>
        </p:txBody>
      </p:sp>
      <p:sp>
        <p:nvSpPr>
          <p:cNvPr id="312" name="Google Shape;312;p21"/>
          <p:cNvSpPr/>
          <p:nvPr/>
        </p:nvSpPr>
        <p:spPr>
          <a:xfrm>
            <a:off x="609584" y="3352800"/>
            <a:ext cx="1743031" cy="1447800"/>
          </a:xfrm>
          <a:prstGeom prst="rect">
            <a:avLst/>
          </a:prstGeom>
          <a:solidFill>
            <a:srgbClr val="FFFFFF"/>
          </a:solidFill>
          <a:ln cap="flat" cmpd="sng" w="16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819129" y="3524250"/>
            <a:ext cx="132394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Recall</a:t>
            </a:r>
            <a:endParaRPr/>
          </a:p>
        </p:txBody>
      </p:sp>
      <p:sp>
        <p:nvSpPr>
          <p:cNvPr id="314" name="Google Shape;314;p21"/>
          <p:cNvSpPr txBox="1"/>
          <p:nvPr/>
        </p:nvSpPr>
        <p:spPr>
          <a:xfrm>
            <a:off x="819129" y="3876674"/>
            <a:ext cx="1323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</a:t>
            </a:r>
            <a:r>
              <a:rPr b="1" lang="en-US" sz="1913">
                <a:latin typeface="Times New Roman"/>
                <a:ea typeface="Times New Roman"/>
                <a:cs typeface="Times New Roman"/>
                <a:sym typeface="Times New Roman"/>
              </a:rPr>
              <a:t>59</a:t>
            </a:r>
            <a:r>
              <a:rPr b="1" i="0" lang="en-US" sz="191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%</a:t>
            </a:r>
            <a:endParaRPr/>
          </a:p>
        </p:txBody>
      </p:sp>
      <p:sp>
        <p:nvSpPr>
          <p:cNvPr id="315" name="Google Shape;315;p21"/>
          <p:cNvSpPr txBox="1"/>
          <p:nvPr/>
        </p:nvSpPr>
        <p:spPr>
          <a:xfrm>
            <a:off x="819129" y="4371975"/>
            <a:ext cx="13239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Best: </a:t>
            </a:r>
            <a:r>
              <a:rPr lang="en-US" sz="1076">
                <a:latin typeface="Times New Roman"/>
                <a:ea typeface="Times New Roman"/>
                <a:cs typeface="Times New Roman"/>
                <a:sym typeface="Times New Roman"/>
              </a:rPr>
              <a:t>Random Forest</a:t>
            </a: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2505012" y="3352800"/>
            <a:ext cx="1743031" cy="1447800"/>
          </a:xfrm>
          <a:prstGeom prst="rect">
            <a:avLst/>
          </a:prstGeom>
          <a:solidFill>
            <a:srgbClr val="FFFFFF"/>
          </a:solidFill>
          <a:ln cap="flat" cmpd="sng" w="16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2714557" y="3524250"/>
            <a:ext cx="132394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F1-Score</a:t>
            </a:r>
            <a:endParaRPr/>
          </a:p>
        </p:txBody>
      </p:sp>
      <p:sp>
        <p:nvSpPr>
          <p:cNvPr id="318" name="Google Shape;318;p21"/>
          <p:cNvSpPr txBox="1"/>
          <p:nvPr/>
        </p:nvSpPr>
        <p:spPr>
          <a:xfrm>
            <a:off x="2714557" y="3876674"/>
            <a:ext cx="1323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</a:t>
            </a:r>
            <a:r>
              <a:rPr b="1" lang="en-US" sz="1913">
                <a:latin typeface="Times New Roman"/>
                <a:ea typeface="Times New Roman"/>
                <a:cs typeface="Times New Roman"/>
                <a:sym typeface="Times New Roman"/>
              </a:rPr>
              <a:t>52</a:t>
            </a:r>
            <a:r>
              <a:rPr b="1" i="0" lang="en-US" sz="191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%</a:t>
            </a:r>
            <a:endParaRPr/>
          </a:p>
        </p:txBody>
      </p:sp>
      <p:sp>
        <p:nvSpPr>
          <p:cNvPr id="319" name="Google Shape;319;p21"/>
          <p:cNvSpPr txBox="1"/>
          <p:nvPr/>
        </p:nvSpPr>
        <p:spPr>
          <a:xfrm>
            <a:off x="2714557" y="4371975"/>
            <a:ext cx="13239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Best: </a:t>
            </a:r>
            <a:r>
              <a:rPr lang="en-US" sz="1076">
                <a:latin typeface="Times New Roman"/>
                <a:ea typeface="Times New Roman"/>
                <a:cs typeface="Times New Roman"/>
                <a:sym typeface="Times New Roman"/>
              </a:rPr>
              <a:t>Random Forest</a:t>
            </a:r>
            <a:endParaRPr/>
          </a:p>
        </p:txBody>
      </p:sp>
      <p:sp>
        <p:nvSpPr>
          <p:cNvPr id="320" name="Google Shape;320;p21"/>
          <p:cNvSpPr txBox="1"/>
          <p:nvPr/>
        </p:nvSpPr>
        <p:spPr>
          <a:xfrm>
            <a:off x="609584" y="5257800"/>
            <a:ext cx="36384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5">
                <a:latin typeface="Times New Roman"/>
                <a:ea typeface="Times New Roman"/>
                <a:cs typeface="Times New Roman"/>
                <a:sym typeface="Times New Roman"/>
              </a:rPr>
              <a:t>Random Forest </a:t>
            </a: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achieved the best performance among all evaluated models, demonstrating effectiveness in close-code classification</a:t>
            </a:r>
            <a:endParaRPr/>
          </a:p>
        </p:txBody>
      </p:sp>
      <p:sp>
        <p:nvSpPr>
          <p:cNvPr id="321" name="Google Shape;321;p21"/>
          <p:cNvSpPr txBox="1"/>
          <p:nvPr/>
        </p:nvSpPr>
        <p:spPr>
          <a:xfrm>
            <a:off x="5486262" y="1217600"/>
            <a:ext cx="60957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Comparison</a:t>
            </a:r>
            <a:endParaRPr/>
          </a:p>
        </p:txBody>
      </p:sp>
      <p:sp>
        <p:nvSpPr>
          <p:cNvPr id="322" name="Google Shape;322;p21"/>
          <p:cNvSpPr txBox="1"/>
          <p:nvPr/>
        </p:nvSpPr>
        <p:spPr>
          <a:xfrm>
            <a:off x="5486262" y="5410199"/>
            <a:ext cx="60958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★ Best performing model based on accuracy and F1-score</a:t>
            </a:r>
            <a:endParaRPr/>
          </a:p>
        </p:txBody>
      </p:sp>
      <p:pic>
        <p:nvPicPr>
          <p:cNvPr id="323" name="Google Shape;3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2330" y="1738400"/>
            <a:ext cx="6063542" cy="351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2"/>
          <p:cNvSpPr txBox="1"/>
          <p:nvPr/>
        </p:nvSpPr>
        <p:spPr>
          <a:xfrm>
            <a:off x="761980" y="66674"/>
            <a:ext cx="10667733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FACED</a:t>
            </a:r>
            <a:endParaRPr/>
          </a:p>
        </p:txBody>
      </p:sp>
      <p:sp>
        <p:nvSpPr>
          <p:cNvPr id="329" name="Google Shape;329;p22"/>
          <p:cNvSpPr/>
          <p:nvPr/>
        </p:nvSpPr>
        <p:spPr>
          <a:xfrm>
            <a:off x="761980" y="714375"/>
            <a:ext cx="10667733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2"/>
          <p:cNvSpPr/>
          <p:nvPr/>
        </p:nvSpPr>
        <p:spPr>
          <a:xfrm>
            <a:off x="761975" y="1210827"/>
            <a:ext cx="95100" cy="87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2"/>
          <p:cNvSpPr txBox="1"/>
          <p:nvPr/>
        </p:nvSpPr>
        <p:spPr>
          <a:xfrm>
            <a:off x="1047718" y="1123950"/>
            <a:ext cx="46671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Imbalanced Dataset</a:t>
            </a:r>
            <a:endParaRPr/>
          </a:p>
        </p:txBody>
      </p:sp>
      <p:sp>
        <p:nvSpPr>
          <p:cNvPr id="332" name="Google Shape;332;p22"/>
          <p:cNvSpPr txBox="1"/>
          <p:nvPr/>
        </p:nvSpPr>
        <p:spPr>
          <a:xfrm>
            <a:off x="1047718" y="1523582"/>
            <a:ext cx="46671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Uneven distribution of close-code categories affects model training and evaluation</a:t>
            </a:r>
            <a:endParaRPr/>
          </a:p>
        </p:txBody>
      </p:sp>
      <p:sp>
        <p:nvSpPr>
          <p:cNvPr id="333" name="Google Shape;333;p22"/>
          <p:cNvSpPr/>
          <p:nvPr/>
        </p:nvSpPr>
        <p:spPr>
          <a:xfrm>
            <a:off x="761975" y="2444472"/>
            <a:ext cx="95100" cy="87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2"/>
          <p:cNvSpPr txBox="1"/>
          <p:nvPr/>
        </p:nvSpPr>
        <p:spPr>
          <a:xfrm>
            <a:off x="1047718" y="2357594"/>
            <a:ext cx="46671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Ambiguous Incident Descriptions</a:t>
            </a:r>
            <a:endParaRPr/>
          </a:p>
        </p:txBody>
      </p:sp>
      <p:sp>
        <p:nvSpPr>
          <p:cNvPr id="335" name="Google Shape;335;p22"/>
          <p:cNvSpPr txBox="1"/>
          <p:nvPr/>
        </p:nvSpPr>
        <p:spPr>
          <a:xfrm>
            <a:off x="1047718" y="2765914"/>
            <a:ext cx="46671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Vague or incomplete user reports make accurate classification difficult</a:t>
            </a:r>
            <a:endParaRPr/>
          </a:p>
        </p:txBody>
      </p:sp>
      <p:sp>
        <p:nvSpPr>
          <p:cNvPr id="336" name="Google Shape;336;p22"/>
          <p:cNvSpPr/>
          <p:nvPr/>
        </p:nvSpPr>
        <p:spPr>
          <a:xfrm>
            <a:off x="761975" y="3678115"/>
            <a:ext cx="95100" cy="87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2"/>
          <p:cNvSpPr txBox="1"/>
          <p:nvPr/>
        </p:nvSpPr>
        <p:spPr>
          <a:xfrm>
            <a:off x="1047718" y="3591240"/>
            <a:ext cx="46671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Overlapping Close-Code Categories</a:t>
            </a:r>
            <a:endParaRPr/>
          </a:p>
        </p:txBody>
      </p:sp>
      <p:sp>
        <p:nvSpPr>
          <p:cNvPr id="338" name="Google Shape;338;p22"/>
          <p:cNvSpPr txBox="1"/>
          <p:nvPr/>
        </p:nvSpPr>
        <p:spPr>
          <a:xfrm>
            <a:off x="1047718" y="4008246"/>
            <a:ext cx="46671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 incidents may belong to multiple categories, creating classification ambiguity</a:t>
            </a:r>
            <a:endParaRPr/>
          </a:p>
        </p:txBody>
      </p:sp>
      <p:sp>
        <p:nvSpPr>
          <p:cNvPr id="339" name="Google Shape;339;p22"/>
          <p:cNvSpPr/>
          <p:nvPr/>
        </p:nvSpPr>
        <p:spPr>
          <a:xfrm>
            <a:off x="761975" y="4920448"/>
            <a:ext cx="95100" cy="87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2"/>
          <p:cNvSpPr txBox="1"/>
          <p:nvPr/>
        </p:nvSpPr>
        <p:spPr>
          <a:xfrm>
            <a:off x="1047718" y="4833572"/>
            <a:ext cx="46671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Sparse Textual Data</a:t>
            </a:r>
            <a:endParaRPr/>
          </a:p>
        </p:txBody>
      </p:sp>
      <p:sp>
        <p:nvSpPr>
          <p:cNvPr id="341" name="Google Shape;341;p22"/>
          <p:cNvSpPr txBox="1"/>
          <p:nvPr/>
        </p:nvSpPr>
        <p:spPr>
          <a:xfrm>
            <a:off x="1047718" y="5241890"/>
            <a:ext cx="46671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textual features in incident descriptions reduce NLP effectiveness</a:t>
            </a:r>
            <a:endParaRPr/>
          </a:p>
        </p:txBody>
      </p:sp>
      <p:sp>
        <p:nvSpPr>
          <p:cNvPr id="342" name="Google Shape;342;p22"/>
          <p:cNvSpPr/>
          <p:nvPr/>
        </p:nvSpPr>
        <p:spPr>
          <a:xfrm>
            <a:off x="6495887" y="1210825"/>
            <a:ext cx="4933800" cy="4076700"/>
          </a:xfrm>
          <a:prstGeom prst="rect">
            <a:avLst/>
          </a:prstGeom>
          <a:solidFill>
            <a:srgbClr val="FFFFFF"/>
          </a:solidFill>
          <a:ln cap="flat" cmpd="sng" w="16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2"/>
          <p:cNvSpPr txBox="1"/>
          <p:nvPr/>
        </p:nvSpPr>
        <p:spPr>
          <a:xfrm>
            <a:off x="6781630" y="1458474"/>
            <a:ext cx="4362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Ambiguity Example</a:t>
            </a:r>
            <a:endParaRPr/>
          </a:p>
        </p:txBody>
      </p:sp>
      <p:sp>
        <p:nvSpPr>
          <p:cNvPr id="344" name="Google Shape;344;p22"/>
          <p:cNvSpPr txBox="1"/>
          <p:nvPr/>
        </p:nvSpPr>
        <p:spPr>
          <a:xfrm>
            <a:off x="6781630" y="2163325"/>
            <a:ext cx="43623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Incident Description:</a:t>
            </a:r>
            <a:br>
              <a:rPr b="0" i="0" lang="en-US" sz="11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"Email not working" </a:t>
            </a:r>
            <a:endParaRPr/>
          </a:p>
        </p:txBody>
      </p:sp>
      <p:sp>
        <p:nvSpPr>
          <p:cNvPr id="345" name="Google Shape;345;p22"/>
          <p:cNvSpPr txBox="1"/>
          <p:nvPr/>
        </p:nvSpPr>
        <p:spPr>
          <a:xfrm>
            <a:off x="8029374" y="3439674"/>
            <a:ext cx="18669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Possible Close Codes:</a:t>
            </a:r>
            <a:endParaRPr/>
          </a:p>
        </p:txBody>
      </p:sp>
      <p:sp>
        <p:nvSpPr>
          <p:cNvPr id="346" name="Google Shape;346;p22"/>
          <p:cNvSpPr/>
          <p:nvPr/>
        </p:nvSpPr>
        <p:spPr>
          <a:xfrm>
            <a:off x="8248443" y="3992125"/>
            <a:ext cx="76200" cy="762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 txBox="1"/>
          <p:nvPr/>
        </p:nvSpPr>
        <p:spPr>
          <a:xfrm>
            <a:off x="8477038" y="3877825"/>
            <a:ext cx="12000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issue</a:t>
            </a:r>
            <a:endParaRPr/>
          </a:p>
        </p:txBody>
      </p:sp>
      <p:sp>
        <p:nvSpPr>
          <p:cNvPr id="348" name="Google Shape;348;p22"/>
          <p:cNvSpPr/>
          <p:nvPr/>
        </p:nvSpPr>
        <p:spPr>
          <a:xfrm>
            <a:off x="7991275" y="4420750"/>
            <a:ext cx="76200" cy="762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2"/>
          <p:cNvSpPr txBox="1"/>
          <p:nvPr/>
        </p:nvSpPr>
        <p:spPr>
          <a:xfrm>
            <a:off x="8219869" y="4296925"/>
            <a:ext cx="17145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Authentication issue</a:t>
            </a:r>
            <a:endParaRPr/>
          </a:p>
        </p:txBody>
      </p:sp>
      <p:sp>
        <p:nvSpPr>
          <p:cNvPr id="350" name="Google Shape;350;p22"/>
          <p:cNvSpPr/>
          <p:nvPr/>
        </p:nvSpPr>
        <p:spPr>
          <a:xfrm>
            <a:off x="8343691" y="4849375"/>
            <a:ext cx="76200" cy="762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8572285" y="4735075"/>
            <a:ext cx="10095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SMTP issue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3"/>
          <p:cNvSpPr txBox="1"/>
          <p:nvPr/>
        </p:nvSpPr>
        <p:spPr>
          <a:xfrm>
            <a:off x="761980" y="66674"/>
            <a:ext cx="10667733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 DEPLOYMENT</a:t>
            </a:r>
            <a:endParaRPr/>
          </a:p>
        </p:txBody>
      </p:sp>
      <p:sp>
        <p:nvSpPr>
          <p:cNvPr id="357" name="Google Shape;357;p23"/>
          <p:cNvSpPr/>
          <p:nvPr/>
        </p:nvSpPr>
        <p:spPr>
          <a:xfrm>
            <a:off x="761980" y="714375"/>
            <a:ext cx="10667733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3"/>
          <p:cNvSpPr txBox="1"/>
          <p:nvPr/>
        </p:nvSpPr>
        <p:spPr>
          <a:xfrm>
            <a:off x="761980" y="1266824"/>
            <a:ext cx="4952876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 Features</a:t>
            </a:r>
            <a:endParaRPr/>
          </a:p>
        </p:txBody>
      </p:sp>
      <p:sp>
        <p:nvSpPr>
          <p:cNvPr id="359" name="Google Shape;359;p23"/>
          <p:cNvSpPr/>
          <p:nvPr/>
        </p:nvSpPr>
        <p:spPr>
          <a:xfrm>
            <a:off x="761980" y="2066924"/>
            <a:ext cx="76198" cy="762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3"/>
          <p:cNvSpPr txBox="1"/>
          <p:nvPr/>
        </p:nvSpPr>
        <p:spPr>
          <a:xfrm>
            <a:off x="990575" y="1971675"/>
            <a:ext cx="360988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Form</a:t>
            </a:r>
            <a:endParaRPr/>
          </a:p>
        </p:txBody>
      </p:sp>
      <p:sp>
        <p:nvSpPr>
          <p:cNvPr id="361" name="Google Shape;361;p23"/>
          <p:cNvSpPr txBox="1"/>
          <p:nvPr/>
        </p:nvSpPr>
        <p:spPr>
          <a:xfrm>
            <a:off x="990575" y="2352675"/>
            <a:ext cx="360988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Structured data entry for incident attributes</a:t>
            </a:r>
            <a:endParaRPr/>
          </a:p>
        </p:txBody>
      </p:sp>
      <p:sp>
        <p:nvSpPr>
          <p:cNvPr id="362" name="Google Shape;362;p23"/>
          <p:cNvSpPr/>
          <p:nvPr/>
        </p:nvSpPr>
        <p:spPr>
          <a:xfrm>
            <a:off x="761980" y="2952750"/>
            <a:ext cx="76198" cy="762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3"/>
          <p:cNvSpPr txBox="1"/>
          <p:nvPr/>
        </p:nvSpPr>
        <p:spPr>
          <a:xfrm>
            <a:off x="990575" y="2857500"/>
            <a:ext cx="2933626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Dropdown Menus</a:t>
            </a:r>
            <a:endParaRPr/>
          </a:p>
        </p:txBody>
      </p:sp>
      <p:sp>
        <p:nvSpPr>
          <p:cNvPr id="364" name="Google Shape;364;p23"/>
          <p:cNvSpPr txBox="1"/>
          <p:nvPr/>
        </p:nvSpPr>
        <p:spPr>
          <a:xfrm>
            <a:off x="990575" y="3238500"/>
            <a:ext cx="293362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Priority, Impact, Urgency selection</a:t>
            </a:r>
            <a:endParaRPr/>
          </a:p>
        </p:txBody>
      </p:sp>
      <p:sp>
        <p:nvSpPr>
          <p:cNvPr id="365" name="Google Shape;365;p23"/>
          <p:cNvSpPr/>
          <p:nvPr/>
        </p:nvSpPr>
        <p:spPr>
          <a:xfrm>
            <a:off x="761980" y="3838574"/>
            <a:ext cx="76198" cy="762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3"/>
          <p:cNvSpPr txBox="1"/>
          <p:nvPr/>
        </p:nvSpPr>
        <p:spPr>
          <a:xfrm>
            <a:off x="990575" y="3743325"/>
            <a:ext cx="27812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Symptom Description Input</a:t>
            </a:r>
            <a:endParaRPr/>
          </a:p>
        </p:txBody>
      </p:sp>
      <p:sp>
        <p:nvSpPr>
          <p:cNvPr id="367" name="Google Shape;367;p23"/>
          <p:cNvSpPr txBox="1"/>
          <p:nvPr/>
        </p:nvSpPr>
        <p:spPr>
          <a:xfrm>
            <a:off x="990575" y="4124324"/>
            <a:ext cx="278123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Free-text area for incident details</a:t>
            </a:r>
            <a:endParaRPr/>
          </a:p>
        </p:txBody>
      </p:sp>
      <p:sp>
        <p:nvSpPr>
          <p:cNvPr id="368" name="Google Shape;368;p23"/>
          <p:cNvSpPr/>
          <p:nvPr/>
        </p:nvSpPr>
        <p:spPr>
          <a:xfrm>
            <a:off x="761980" y="4724399"/>
            <a:ext cx="76198" cy="762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3"/>
          <p:cNvSpPr txBox="1"/>
          <p:nvPr/>
        </p:nvSpPr>
        <p:spPr>
          <a:xfrm>
            <a:off x="990575" y="4629150"/>
            <a:ext cx="23907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 Output</a:t>
            </a:r>
            <a:endParaRPr/>
          </a:p>
        </p:txBody>
      </p:sp>
      <p:sp>
        <p:nvSpPr>
          <p:cNvPr id="370" name="Google Shape;370;p23"/>
          <p:cNvSpPr txBox="1"/>
          <p:nvPr/>
        </p:nvSpPr>
        <p:spPr>
          <a:xfrm>
            <a:off x="990575" y="5010149"/>
            <a:ext cx="23907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Top-K predicted close codes</a:t>
            </a:r>
            <a:endParaRPr/>
          </a:p>
        </p:txBody>
      </p:sp>
      <p:sp>
        <p:nvSpPr>
          <p:cNvPr id="371" name="Google Shape;371;p23"/>
          <p:cNvSpPr/>
          <p:nvPr/>
        </p:nvSpPr>
        <p:spPr>
          <a:xfrm>
            <a:off x="761980" y="5610224"/>
            <a:ext cx="76198" cy="762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 txBox="1"/>
          <p:nvPr/>
        </p:nvSpPr>
        <p:spPr>
          <a:xfrm>
            <a:off x="990575" y="5514975"/>
            <a:ext cx="3152696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Confidence Scores</a:t>
            </a:r>
            <a:endParaRPr/>
          </a:p>
        </p:txBody>
      </p:sp>
      <p:sp>
        <p:nvSpPr>
          <p:cNvPr id="373" name="Google Shape;373;p23"/>
          <p:cNvSpPr txBox="1"/>
          <p:nvPr/>
        </p:nvSpPr>
        <p:spPr>
          <a:xfrm>
            <a:off x="990575" y="5895974"/>
            <a:ext cx="315269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Probability values for each prediction</a:t>
            </a:r>
            <a:endParaRPr/>
          </a:p>
        </p:txBody>
      </p:sp>
      <p:sp>
        <p:nvSpPr>
          <p:cNvPr id="374" name="Google Shape;374;p23"/>
          <p:cNvSpPr/>
          <p:nvPr/>
        </p:nvSpPr>
        <p:spPr>
          <a:xfrm>
            <a:off x="6495887" y="2343150"/>
            <a:ext cx="4933826" cy="1371600"/>
          </a:xfrm>
          <a:prstGeom prst="rect">
            <a:avLst/>
          </a:prstGeom>
          <a:solidFill>
            <a:srgbClr val="FFFFFF"/>
          </a:solidFill>
          <a:ln cap="flat" cmpd="sng" w="16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3"/>
          <p:cNvSpPr txBox="1"/>
          <p:nvPr/>
        </p:nvSpPr>
        <p:spPr>
          <a:xfrm>
            <a:off x="6743531" y="2590799"/>
            <a:ext cx="443853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Interface</a:t>
            </a:r>
            <a:endParaRPr/>
          </a:p>
        </p:txBody>
      </p:sp>
      <p:sp>
        <p:nvSpPr>
          <p:cNvPr id="376" name="Google Shape;376;p23"/>
          <p:cNvSpPr txBox="1"/>
          <p:nvPr/>
        </p:nvSpPr>
        <p:spPr>
          <a:xfrm>
            <a:off x="6743531" y="2952750"/>
            <a:ext cx="4438539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4B55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[Screenshot: Incident Input Form with Priority, Impact, Urgency dropdowns and Description text field]</a:t>
            </a:r>
            <a:endParaRPr/>
          </a:p>
        </p:txBody>
      </p:sp>
      <p:sp>
        <p:nvSpPr>
          <p:cNvPr id="377" name="Google Shape;377;p23"/>
          <p:cNvSpPr/>
          <p:nvPr/>
        </p:nvSpPr>
        <p:spPr>
          <a:xfrm>
            <a:off x="6495887" y="3943350"/>
            <a:ext cx="4933826" cy="1371600"/>
          </a:xfrm>
          <a:prstGeom prst="rect">
            <a:avLst/>
          </a:prstGeom>
          <a:solidFill>
            <a:srgbClr val="FFFFFF"/>
          </a:solidFill>
          <a:ln cap="flat" cmpd="sng" w="16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3"/>
          <p:cNvSpPr txBox="1"/>
          <p:nvPr/>
        </p:nvSpPr>
        <p:spPr>
          <a:xfrm>
            <a:off x="6743531" y="4190999"/>
            <a:ext cx="443853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 Output</a:t>
            </a:r>
            <a:endParaRPr/>
          </a:p>
        </p:txBody>
      </p:sp>
      <p:sp>
        <p:nvSpPr>
          <p:cNvPr id="379" name="Google Shape;379;p23"/>
          <p:cNvSpPr txBox="1"/>
          <p:nvPr/>
        </p:nvSpPr>
        <p:spPr>
          <a:xfrm>
            <a:off x="6743531" y="4552949"/>
            <a:ext cx="4438539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4B55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[Screenshot: Top-K Close Codes displayed with confidence scores]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24" title="Screenshot 2026-05-22 at 7.48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500" y="550700"/>
            <a:ext cx="5121649" cy="267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4" title="Screenshot 2026-05-22 at 7.49.1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5150" y="3429000"/>
            <a:ext cx="6378020" cy="3329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5"/>
          <p:cNvSpPr txBox="1"/>
          <p:nvPr/>
        </p:nvSpPr>
        <p:spPr>
          <a:xfrm>
            <a:off x="761980" y="66674"/>
            <a:ext cx="10667733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FUTURE WORK</a:t>
            </a:r>
            <a:endParaRPr/>
          </a:p>
        </p:txBody>
      </p:sp>
      <p:sp>
        <p:nvSpPr>
          <p:cNvPr id="391" name="Google Shape;391;p25"/>
          <p:cNvSpPr/>
          <p:nvPr/>
        </p:nvSpPr>
        <p:spPr>
          <a:xfrm>
            <a:off x="761980" y="714375"/>
            <a:ext cx="10667733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5"/>
          <p:cNvSpPr txBox="1"/>
          <p:nvPr/>
        </p:nvSpPr>
        <p:spPr>
          <a:xfrm>
            <a:off x="761980" y="1219200"/>
            <a:ext cx="4933826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393" name="Google Shape;393;p25"/>
          <p:cNvSpPr/>
          <p:nvPr/>
        </p:nvSpPr>
        <p:spPr>
          <a:xfrm>
            <a:off x="761975" y="2050904"/>
            <a:ext cx="95100" cy="90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5"/>
          <p:cNvSpPr txBox="1"/>
          <p:nvPr/>
        </p:nvSpPr>
        <p:spPr>
          <a:xfrm>
            <a:off x="1047717" y="1939125"/>
            <a:ext cx="46482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66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ML-based close-code recommendation system</a:t>
            </a:r>
            <a:endParaRPr/>
          </a:p>
        </p:txBody>
      </p:sp>
      <p:sp>
        <p:nvSpPr>
          <p:cNvPr id="395" name="Google Shape;395;p25"/>
          <p:cNvSpPr/>
          <p:nvPr/>
        </p:nvSpPr>
        <p:spPr>
          <a:xfrm>
            <a:off x="761975" y="2969084"/>
            <a:ext cx="95100" cy="90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5"/>
          <p:cNvSpPr txBox="1"/>
          <p:nvPr/>
        </p:nvSpPr>
        <p:spPr>
          <a:xfrm>
            <a:off x="1047717" y="2868197"/>
            <a:ext cx="46482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66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Combined NLP + structured features for enhanced prediction</a:t>
            </a:r>
            <a:endParaRPr/>
          </a:p>
        </p:txBody>
      </p:sp>
      <p:sp>
        <p:nvSpPr>
          <p:cNvPr id="397" name="Google Shape;397;p25"/>
          <p:cNvSpPr/>
          <p:nvPr/>
        </p:nvSpPr>
        <p:spPr>
          <a:xfrm>
            <a:off x="761975" y="3887263"/>
            <a:ext cx="95100" cy="90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5"/>
          <p:cNvSpPr txBox="1"/>
          <p:nvPr/>
        </p:nvSpPr>
        <p:spPr>
          <a:xfrm>
            <a:off x="1047717" y="3627204"/>
            <a:ext cx="4648200" cy="7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66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Compared multiple ML algorithms (SVM, Random Forest, etc.)</a:t>
            </a:r>
            <a:endParaRPr/>
          </a:p>
        </p:txBody>
      </p:sp>
      <p:sp>
        <p:nvSpPr>
          <p:cNvPr id="399" name="Google Shape;399;p25"/>
          <p:cNvSpPr/>
          <p:nvPr/>
        </p:nvSpPr>
        <p:spPr>
          <a:xfrm>
            <a:off x="761975" y="4805443"/>
            <a:ext cx="95100" cy="90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5"/>
          <p:cNvSpPr txBox="1"/>
          <p:nvPr/>
        </p:nvSpPr>
        <p:spPr>
          <a:xfrm>
            <a:off x="1047730" y="4693665"/>
            <a:ext cx="46482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66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interactive deployment interface using Streamlit</a:t>
            </a:r>
            <a:endParaRPr/>
          </a:p>
        </p:txBody>
      </p:sp>
      <p:sp>
        <p:nvSpPr>
          <p:cNvPr id="401" name="Google Shape;401;p25"/>
          <p:cNvSpPr/>
          <p:nvPr/>
        </p:nvSpPr>
        <p:spPr>
          <a:xfrm>
            <a:off x="761975" y="5723623"/>
            <a:ext cx="95100" cy="90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5"/>
          <p:cNvSpPr txBox="1"/>
          <p:nvPr/>
        </p:nvSpPr>
        <p:spPr>
          <a:xfrm>
            <a:off x="1047717" y="5611845"/>
            <a:ext cx="46482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66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Achieved ~</a:t>
            </a:r>
            <a:r>
              <a:rPr lang="en-US" sz="1435">
                <a:latin typeface="Times New Roman"/>
                <a:ea typeface="Times New Roman"/>
                <a:cs typeface="Times New Roman"/>
                <a:sym typeface="Times New Roman"/>
              </a:rPr>
              <a:t>59</a:t>
            </a:r>
            <a:r>
              <a:rPr b="0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% accuracy with </a:t>
            </a:r>
            <a:r>
              <a:rPr lang="en-US" sz="1435">
                <a:latin typeface="Times New Roman"/>
                <a:ea typeface="Times New Roman"/>
                <a:cs typeface="Times New Roman"/>
                <a:sym typeface="Times New Roman"/>
              </a:rPr>
              <a:t>Random Forest </a:t>
            </a:r>
            <a:r>
              <a:rPr b="0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</a:t>
            </a:r>
            <a:endParaRPr/>
          </a:p>
        </p:txBody>
      </p:sp>
      <p:sp>
        <p:nvSpPr>
          <p:cNvPr id="403" name="Google Shape;403;p25"/>
          <p:cNvSpPr txBox="1"/>
          <p:nvPr/>
        </p:nvSpPr>
        <p:spPr>
          <a:xfrm>
            <a:off x="6476838" y="1028700"/>
            <a:ext cx="4952876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/>
          </a:p>
        </p:txBody>
      </p:sp>
      <p:sp>
        <p:nvSpPr>
          <p:cNvPr id="404" name="Google Shape;404;p25"/>
          <p:cNvSpPr/>
          <p:nvPr/>
        </p:nvSpPr>
        <p:spPr>
          <a:xfrm>
            <a:off x="6476838" y="1866899"/>
            <a:ext cx="95247" cy="95249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5"/>
          <p:cNvSpPr txBox="1"/>
          <p:nvPr/>
        </p:nvSpPr>
        <p:spPr>
          <a:xfrm>
            <a:off x="6762580" y="1771650"/>
            <a:ext cx="4667133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66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semantic embeddings for better text representation</a:t>
            </a:r>
            <a:endParaRPr/>
          </a:p>
        </p:txBody>
      </p:sp>
      <p:sp>
        <p:nvSpPr>
          <p:cNvPr id="406" name="Google Shape;406;p25"/>
          <p:cNvSpPr/>
          <p:nvPr/>
        </p:nvSpPr>
        <p:spPr>
          <a:xfrm>
            <a:off x="6476838" y="2838450"/>
            <a:ext cx="95247" cy="95249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5"/>
          <p:cNvSpPr txBox="1"/>
          <p:nvPr/>
        </p:nvSpPr>
        <p:spPr>
          <a:xfrm>
            <a:off x="6762580" y="2743200"/>
            <a:ext cx="4667133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66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 BERT-based NLP models for improved accuracy</a:t>
            </a:r>
            <a:endParaRPr/>
          </a:p>
        </p:txBody>
      </p:sp>
      <p:sp>
        <p:nvSpPr>
          <p:cNvPr id="408" name="Google Shape;408;p25"/>
          <p:cNvSpPr/>
          <p:nvPr/>
        </p:nvSpPr>
        <p:spPr>
          <a:xfrm>
            <a:off x="6476838" y="3809999"/>
            <a:ext cx="95247" cy="95249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5"/>
          <p:cNvSpPr txBox="1"/>
          <p:nvPr/>
        </p:nvSpPr>
        <p:spPr>
          <a:xfrm>
            <a:off x="6762580" y="3714750"/>
            <a:ext cx="4667133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66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hierarchical classification for complex incidents</a:t>
            </a:r>
            <a:endParaRPr/>
          </a:p>
        </p:txBody>
      </p:sp>
      <p:sp>
        <p:nvSpPr>
          <p:cNvPr id="410" name="Google Shape;410;p25"/>
          <p:cNvSpPr/>
          <p:nvPr/>
        </p:nvSpPr>
        <p:spPr>
          <a:xfrm>
            <a:off x="6476838" y="4781549"/>
            <a:ext cx="95247" cy="95249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5"/>
          <p:cNvSpPr txBox="1"/>
          <p:nvPr/>
        </p:nvSpPr>
        <p:spPr>
          <a:xfrm>
            <a:off x="6762580" y="4686300"/>
            <a:ext cx="4667133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66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with real-time ITSM systems for live predictions</a:t>
            </a:r>
            <a:endParaRPr/>
          </a:p>
        </p:txBody>
      </p:sp>
      <p:sp>
        <p:nvSpPr>
          <p:cNvPr id="412" name="Google Shape;412;p25"/>
          <p:cNvSpPr/>
          <p:nvPr/>
        </p:nvSpPr>
        <p:spPr>
          <a:xfrm>
            <a:off x="6476838" y="5753099"/>
            <a:ext cx="95247" cy="95249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5"/>
          <p:cNvSpPr txBox="1"/>
          <p:nvPr/>
        </p:nvSpPr>
        <p:spPr>
          <a:xfrm>
            <a:off x="6762580" y="5657850"/>
            <a:ext cx="4667133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66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dataset with more diverse incident scenarios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6"/>
          <p:cNvSpPr txBox="1"/>
          <p:nvPr/>
        </p:nvSpPr>
        <p:spPr>
          <a:xfrm>
            <a:off x="4124221" y="2286000"/>
            <a:ext cx="393372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27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  <p:sp>
        <p:nvSpPr>
          <p:cNvPr id="419" name="Google Shape;419;p26"/>
          <p:cNvSpPr/>
          <p:nvPr/>
        </p:nvSpPr>
        <p:spPr>
          <a:xfrm>
            <a:off x="4876678" y="3505199"/>
            <a:ext cx="2438339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6"/>
          <p:cNvSpPr txBox="1"/>
          <p:nvPr/>
        </p:nvSpPr>
        <p:spPr>
          <a:xfrm>
            <a:off x="4124221" y="4000500"/>
            <a:ext cx="3933726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 and Discussion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