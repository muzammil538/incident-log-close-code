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457200"/>
            <a:ext cx="10667733" cy="20764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080"/>
              </a:spcAft>
            </a:pPr>
            <a:r>
              <a:rPr sz="3468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AUTOMATED INCIDENT ROOT-CAUSE</a:t>
            </a:r>
            <a:r>
              <a:rPr sz="1104"/>
              <a:t>
</a:t>
            </a:r>
            <a:r>
              <a:rPr sz="3468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ANALYSIS VIA CLOSE-CODE CLASSIFICATION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3238419" y="3019424"/>
            <a:ext cx="5714857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05232" y="3686175"/>
            <a:ext cx="27717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Student Name: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[Your Name]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5232" y="4105274"/>
            <a:ext cx="27717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ID Number: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[Your ID]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5232" y="4524374"/>
            <a:ext cx="27717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BITS Pilani WILP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5232" y="5095874"/>
            <a:ext cx="27717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Course Name: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[Course Name]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5232" y="5514975"/>
            <a:ext cx="27717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Guide Name: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[Guide Name]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5232" y="6086475"/>
            <a:ext cx="277170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Academic Year: 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314450"/>
            <a:ext cx="502907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1790700"/>
            <a:ext cx="502907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Process of restoring normal service operation as quickly as possible, minimizing adverse impact on business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781300"/>
            <a:ext cx="502907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Close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3267075"/>
            <a:ext cx="502907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Standardized categories indicating the root cause or resolution type of an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4248150"/>
            <a:ext cx="502907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Root-Cause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4743450"/>
            <a:ext cx="502907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Systematic method to identify underlying causes of problems, enabling preventive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0" y="5724524"/>
            <a:ext cx="502907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Need for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0" y="6210299"/>
            <a:ext cx="502907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Enterprise IT systems generate high incident volumes requiring efficient, consistent, and scalable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639" y="1266824"/>
            <a:ext cx="502907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Lifecycle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611" y="1971675"/>
            <a:ext cx="2743131" cy="428625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611" y="1971675"/>
            <a:ext cx="274313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8503" y="2552700"/>
            <a:ext cx="13334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104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611" y="3105149"/>
            <a:ext cx="2743131" cy="428625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611" y="3105149"/>
            <a:ext cx="274313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104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Logging &amp; Categorization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8503" y="3686175"/>
            <a:ext cx="13334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104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611" y="4238624"/>
            <a:ext cx="2743131" cy="428625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611" y="4238624"/>
            <a:ext cx="274313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104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Analysis &amp;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8503" y="4819650"/>
            <a:ext cx="13334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104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611" y="5372100"/>
            <a:ext cx="2743131" cy="428625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611" y="5372100"/>
            <a:ext cx="274313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104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Resolution &amp;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8503" y="5953124"/>
            <a:ext cx="13334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104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611" y="6505575"/>
            <a:ext cx="2743131" cy="428625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611" y="6505575"/>
            <a:ext cx="274313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104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Close-Code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362199"/>
            <a:ext cx="45528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200400"/>
            <a:ext cx="455283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Manual close-code assignment 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0" y="412432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4029075"/>
            <a:ext cx="15525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Time-consuming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463867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575" y="4543425"/>
            <a:ext cx="11048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Inconsistent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80" y="5057775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575" y="4962525"/>
            <a:ext cx="24764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Difficult at enterprise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8" y="2247899"/>
            <a:ext cx="4571885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260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7828" y="318135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422" y="3086100"/>
            <a:ext cx="290505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Analyze historical incident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7828" y="369569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422" y="3600450"/>
            <a:ext cx="329556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Apply NLP on incident descriptions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7828" y="419099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422" y="4095749"/>
            <a:ext cx="16001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Train ML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7828" y="468630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422" y="4591050"/>
            <a:ext cx="260978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 probable close codes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7828" y="518159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422" y="5086350"/>
            <a:ext cx="27907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Build recommendation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971550"/>
            <a:ext cx="487667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Management Process Enriched Event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00250"/>
            <a:ext cx="48766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UCI Machine Learning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" y="2590799"/>
            <a:ext cx="2362140" cy="116205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604" y="2752725"/>
            <a:ext cx="19621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Total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3076574"/>
            <a:ext cx="1962100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46,577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4121" y="2590799"/>
            <a:ext cx="2362140" cy="116205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4141" y="2752725"/>
            <a:ext cx="19621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4141" y="3076574"/>
            <a:ext cx="1962100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405765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Event Log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4514850"/>
            <a:ext cx="4876678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ID, Timestamp, Priority, Impact, Urgency, Assignment Group, Reassignment Count, Reopen Count, Incident Duration, Description, Close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5667374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Close Code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" y="6124574"/>
            <a:ext cx="487667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Hardware, Software, Network, User Error, Configuration, Database, Security,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432" y="9905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2" y="3933824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Class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4514850"/>
            <a:ext cx="105724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62680" y="4505325"/>
            <a:ext cx="3390815" cy="2666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67793" y="4514850"/>
            <a:ext cx="3143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2" y="4972050"/>
            <a:ext cx="10667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Hardware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205" y="4962525"/>
            <a:ext cx="3381290" cy="2666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67793" y="4972050"/>
            <a:ext cx="3143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2" y="5429250"/>
            <a:ext cx="10667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Network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205" y="5419725"/>
            <a:ext cx="3381290" cy="2666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67793" y="5429250"/>
            <a:ext cx="3143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432" y="5886450"/>
            <a:ext cx="10667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User Error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205" y="5876925"/>
            <a:ext cx="3381290" cy="2666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67793" y="5886450"/>
            <a:ext cx="3143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432" y="6343650"/>
            <a:ext cx="10667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Others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205" y="6334125"/>
            <a:ext cx="3381290" cy="2666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67793" y="6343650"/>
            <a:ext cx="3143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1085850"/>
            <a:ext cx="48766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Key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8668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28600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Group multiple updates per incident into single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85750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Missing Value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2765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Impute or remove incomplete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38480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Duplicate Removal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2671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Eliminate redundant incident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4829175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Rare Class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5248275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Remove categories with insufficient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5819775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 Balancing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" y="6238874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Apply techniques to address 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432" y="171450"/>
            <a:ext cx="48766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Preprocessing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205" y="876299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205" y="876299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Raw Incident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205" y="1866899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205" y="1866899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Aggregation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205" y="2876549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205" y="2876549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Missing Value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205" y="3867149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205" y="3867149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Duplicate Removal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205" y="4876800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205" y="4876800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Rare Class Filtering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205" y="5867399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205" y="5867399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 Balancing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205" y="6877050"/>
            <a:ext cx="2743131" cy="62865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205" y="6877050"/>
            <a:ext cx="274313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Clean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ENGINEERING &amp; NLP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1447800"/>
            <a:ext cx="48576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2152650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555" y="2295525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55" y="2676524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 / Medium /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14597" y="2152650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567" y="2295525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5567" y="2676524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 / Medium /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" y="3228975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555" y="3371850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55" y="3752849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 / Medium / 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4597" y="3228975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5567" y="3371850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Reassignment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5567" y="3752849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Numerical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" y="4305300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555" y="4448175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Reopen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" y="4829175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Numerical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4597" y="4305300"/>
            <a:ext cx="2352616" cy="9239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5567" y="4448175"/>
            <a:ext cx="199067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5567" y="4829175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" y="5534025"/>
            <a:ext cx="4857628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Structured features derived from incident metadata to complement textual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2" y="-19050"/>
            <a:ext cx="48766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NLP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05432" y="80010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4026" y="685800"/>
            <a:ext cx="426709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Text 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4026" y="1104900"/>
            <a:ext cx="426709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52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Lowercase, remove special characters, punctuation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5432" y="169544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4026" y="1581149"/>
            <a:ext cx="34384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TF-IDF Vectorization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4026" y="2000250"/>
            <a:ext cx="34384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52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Convert text to numerical feature vectors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432" y="2914650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Text-to-Vector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4601" y="3486150"/>
            <a:ext cx="2438339" cy="5715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4601" y="3486150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4601" y="4400550"/>
            <a:ext cx="2438339" cy="5715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601" y="4400550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Text Cleaning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4601" y="5295899"/>
            <a:ext cx="2438339" cy="5715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4601" y="5295899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Tokenization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4601" y="6210299"/>
            <a:ext cx="2438339" cy="5715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4601" y="6210299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TF-IDF Vectorization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4601" y="7105650"/>
            <a:ext cx="2438339" cy="5715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601" y="7105650"/>
            <a:ext cx="24383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Vector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895350"/>
            <a:ext cx="48576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Models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1600200"/>
            <a:ext cx="4857628" cy="11525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1809749"/>
            <a:ext cx="436234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247899"/>
            <a:ext cx="43623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Linear classification with probabilistic interpretation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" y="2933699"/>
            <a:ext cx="4857628" cy="11525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28" y="3143250"/>
            <a:ext cx="436234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28" y="3600450"/>
            <a:ext cx="43623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Tree-based model with interpretable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" y="4286250"/>
            <a:ext cx="4857628" cy="11525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28" y="4495799"/>
            <a:ext cx="436234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Support Vector Machine (SVM)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4933950"/>
            <a:ext cx="43623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Optimal hyperplane for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" y="5619750"/>
            <a:ext cx="4857628" cy="11525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28" y="5829300"/>
            <a:ext cx="436234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6286500"/>
            <a:ext cx="43623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Ensemble of decision trees for robust 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2" y="885825"/>
            <a:ext cx="48766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1514475"/>
            <a:ext cx="4876678" cy="10191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Multiple models compared to identify the best performing algorithm for close-code prediction based on accuracy, precision, recall, and F1-score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348" y="12573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348" y="12573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348" y="21717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348" y="21717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348" y="30861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348" y="30861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348" y="40005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348" y="40005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TF-IDF Vectorization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348" y="49149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348" y="49149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Feature Combination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348" y="58293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348" y="58293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ML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5532" y="1676400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5532" y="1676400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Prediction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5532" y="2590799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5532" y="2590799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Top-K 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5532" y="3505199"/>
            <a:ext cx="2438339" cy="59054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5532" y="3505199"/>
            <a:ext cx="243833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Streamlit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689" y="4400550"/>
            <a:ext cx="50100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1040"/>
              </a:spcAft>
            </a:pPr>
            <a:r>
              <a:rPr sz="131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Interface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689" y="4867274"/>
            <a:ext cx="2447863" cy="5048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1610" y="4991100"/>
            <a:ext cx="212402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Input 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850" y="4867274"/>
            <a:ext cx="2447863" cy="5048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771" y="4991100"/>
            <a:ext cx="212402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Dropdown Menus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689" y="5486400"/>
            <a:ext cx="2447863" cy="5048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1610" y="5610224"/>
            <a:ext cx="212402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Symptom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81850" y="5486400"/>
            <a:ext cx="2447863" cy="504824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771" y="5610224"/>
            <a:ext cx="212402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Confidence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1047749"/>
            <a:ext cx="363845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1752599"/>
            <a:ext cx="1743031" cy="1447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29" y="1924049"/>
            <a:ext cx="13239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2276474"/>
            <a:ext cx="132394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~42%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771775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Best: Linear SVM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5012" y="1752599"/>
            <a:ext cx="1743031" cy="1447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4557" y="1924049"/>
            <a:ext cx="13239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4557" y="2276474"/>
            <a:ext cx="132394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~40%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4557" y="2771775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Across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" y="3352800"/>
            <a:ext cx="1743031" cy="1447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29" y="3524250"/>
            <a:ext cx="13239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29" y="3876674"/>
            <a:ext cx="132394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~42%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4371975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Best: Linear SVM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5012" y="3352800"/>
            <a:ext cx="1743031" cy="1447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4557" y="3524250"/>
            <a:ext cx="13239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4557" y="3876674"/>
            <a:ext cx="132394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~41%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4557" y="4371975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Best: Linear 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" y="5257800"/>
            <a:ext cx="3638459" cy="1362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Linear SVM achieved the best performance among all evaluated models, demonstrating effectiveness in close-code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262" y="1971675"/>
            <a:ext cx="609584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Model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262" y="5410199"/>
            <a:ext cx="60958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★ Best performing model based on accuracy and F1-score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80" y="121920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23" y="1123949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Imbalanced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" y="1562100"/>
            <a:ext cx="466713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Uneven distribution of close-code categories affects model training and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980" y="257175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23" y="2476499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Ambiguous Incident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924175"/>
            <a:ext cx="466713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Vague or incomplete user reports make accurate classification difficult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80" y="39242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23" y="3829050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Overlapping Close-Code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" y="4286250"/>
            <a:ext cx="466713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Similar incidents may belong to multiple categories, creating classification ambiguity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0" y="5286375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23" y="5191125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Sparse Textual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5638799"/>
            <a:ext cx="4667133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Limited textual features in incident descriptions reduce NLP effectiveness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5887" y="1790700"/>
            <a:ext cx="4933826" cy="4076699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1630" y="2038349"/>
            <a:ext cx="436234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Classification Ambiguity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630" y="2743200"/>
            <a:ext cx="4362340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</a:t>
            </a: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Incident Description:</a:t>
            </a:r>
            <a:r>
              <a:rPr sz="1104"/>
              <a:t>
</a:t>
            </a: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 "Email not working"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9374" y="4019549"/>
            <a:ext cx="18668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Possible Close Codes: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8443" y="457200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7038" y="4457700"/>
            <a:ext cx="12001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Network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275" y="5000625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9869" y="4876800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Authentication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3691" y="542925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5" y="5314950"/>
            <a:ext cx="100962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SMTP issue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STREAMLIT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266824"/>
            <a:ext cx="495287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080"/>
              </a:spcAft>
            </a:pPr>
            <a:r>
              <a:rPr sz="1674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Interface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206692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1971675"/>
            <a:ext cx="360988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Input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75" y="2352675"/>
            <a:ext cx="36098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Structured data entry for incident attributes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2952750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575" y="2857500"/>
            <a:ext cx="29336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Dropdown Menus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3238500"/>
            <a:ext cx="293362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Priority, Impact, Urgency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0" y="383857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75" y="3743325"/>
            <a:ext cx="278123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Symptom Description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75" y="4124324"/>
            <a:ext cx="27812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Free-text area for incident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80" y="4724399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575" y="4629150"/>
            <a:ext cx="239071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Recommendation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75" y="5010149"/>
            <a:ext cx="23907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Top-K predicted close codes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980" y="5610224"/>
            <a:ext cx="76198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575" y="5514975"/>
            <a:ext cx="315269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Confidence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75" y="5895974"/>
            <a:ext cx="31526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Probability values for each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5887" y="2343150"/>
            <a:ext cx="493382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3531" y="2590799"/>
            <a:ext cx="44385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Input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531" y="2952750"/>
            <a:ext cx="443853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Times New Roman"/>
                <a:rFonts ascii="Times New Roman" hAnsi="Times New Roman" eastAsia="Times New Roman" cs="Times New Roman"/>
              </a:rPr>
              <a:t>[Screenshot: Incident Input Form with Priority, Impact, Urgency dropdowns and Description text field]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5887" y="3943350"/>
            <a:ext cx="4933826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3531" y="4190999"/>
            <a:ext cx="44385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Recommendation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531" y="4552949"/>
            <a:ext cx="443853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Times New Roman"/>
                <a:rFonts ascii="Times New Roman" hAnsi="Times New Roman" eastAsia="Times New Roman" cs="Times New Roman"/>
              </a:rPr>
              <a:t>[Screenshot: Top-K Close Codes displayed with confidence scores]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66674"/>
            <a:ext cx="106677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714375"/>
            <a:ext cx="1066773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219200"/>
            <a:ext cx="4933826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205740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23" y="1962149"/>
            <a:ext cx="464808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Developed ML-based close-code recommendation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980" y="302895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23" y="2933699"/>
            <a:ext cx="464808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Combined NLP + structured features for enhanced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0" y="400050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23" y="3905249"/>
            <a:ext cx="464808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Compared multiple ML algorithms (SVM, Random Forest,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0" y="497205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23" y="4876800"/>
            <a:ext cx="464808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Built interactive deployment interface using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0" y="594360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23" y="5848350"/>
            <a:ext cx="464808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Achieved ~42% accuracy with Linear SVM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1028700"/>
            <a:ext cx="4952876" cy="552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6838" y="18668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2580" y="1771650"/>
            <a:ext cx="466713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Implement semantic embeddings for better text representation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6838" y="2838450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2580" y="2743200"/>
            <a:ext cx="466713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Explore BERT-based NLP models for improved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6838" y="38099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2580" y="3714750"/>
            <a:ext cx="466713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Develop hierarchical classification for complex incidents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6838" y="478154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2580" y="4686300"/>
            <a:ext cx="466713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Integrate with real-time ITSM systems for live predictions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6838" y="5753099"/>
            <a:ext cx="95247" cy="952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2580" y="5657850"/>
            <a:ext cx="4667133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Expand dataset with more diverse incident scenarios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24221" y="2286000"/>
            <a:ext cx="3933726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8" y="3505199"/>
            <a:ext cx="2438339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24221" y="4000500"/>
            <a:ext cx="39337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000000"/>
                </a:solidFill>
                <a:latin typeface="Times New Roman"/>
                <a:rFonts ascii="Times New Roman" hAnsi="Times New Roman" eastAsia="Times New Roman" cs="Times New Roman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{"Label":"1","ContentProducer":"001191110108MA01KP2T5U00000","ProduceID":"06c5b2cfa970961dd9c304b913404995","ReservedCode1":"","ContentPropagator":"001191110108MA01KP2T5U00000","PropagateID":"06c5b2cfa970961dd9c304b913404995","ReservedCode2":""}</vt:lpwstr>
  </property>
</Properties>
</file>